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5ecdfc9-7ff7-a32f-11c3-ce885ab4243f}">
          <p14:sldIdLst>
            <p14:sldId id="256"/>
            <p14:sldId id="257"/>
          </p14:sldIdLst>
        </p14:section>
        <p14:section name="Pipeline de données" id="{9f73f748-34d2-2665-01d5-515003030257}">
          <p14:sldIdLst>
            <p14:sldId id="258"/>
            <p14:sldId id="259"/>
            <p14:sldId id="260"/>
            <p14:sldId id="261"/>
            <p14:sldId id="262"/>
            <p14:sldId id="263"/>
          </p14:sldIdLst>
        </p14:section>
        <p14:section name="API et journalisation" id="{b0c225ab-b76d-b51b-e532-17355524d7cc}">
          <p14:sldIdLst>
            <p14:sldId id="264"/>
            <p14:sldId id="265"/>
            <p14:sldId id="266"/>
          </p14:sldIdLst>
        </p14:section>
        <p14:section name="Tests et résultats" id="{baef36a0-7206-7534-d81a-523c7d8d8161}">
          <p14:sldIdLst>
            <p14:sldId id="267"/>
            <p14:sldId id="268"/>
            <p14:sldId id="269"/>
          </p14:sldIdLst>
        </p14:section>
        <p14:section name="Conclusion" id="{0993c24d-7434-239b-4bca-b14bb06b602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2343B"/>
                </a:solidFill>
                <a:latin typeface="+mn-lt"/>
              </a:defRPr>
            </a:pPr>
            <a:r>
              <a:rPr sz="1600" b="0" i="0" u="none" strike="noStrike">
                <a:solidFill>
                  <a:srgbClr val="12343B"/>
                </a:solidFill>
                <a:latin typeface="+mn-lt"/>
              </a:rPr>
              <a:t>Motifs de rejet (1er chargement)</a:t>
            </a:r>
          </a:p>
        </c:rich>
      </c:tx>
      <c:layout/>
      <c:overlay val="0"/>
    </c:title>
    <c:autoTitleDeleted val="0"/>
    <c:plotArea>
      <c:layout/>
      <c:barChart>
        <c:barDir val="bar"/>
        <c:grouping val="clustered"/>
        <c:varyColors val="0"/>
        <c:ser>
          <c:idx val="0"/>
          <c:order val="0"/>
          <c:tx>
            <c:strRef>
              <c:f>Sheet1!$B$1</c:f>
              <c:strCache>
                <c:ptCount val="1"/>
                <c:pt idx="0">
                  <c:v>Lignes rejetées</c:v>
                </c:pt>
              </c:strCache>
            </c:strRef>
          </c:tx>
          <c:spPr>
            <a:solidFill>
              <a:srgbClr val="C2553A"/>
            </a:solidFill>
            <a:effectLst/>
          </c:spPr>
          <c:invertIfNegative val="0"/>
          <c:dLbls>
            <c:numFmt formatCode="#,##0" sourceLinked="0"/>
            <c:txPr>
              <a:bodyPr/>
              <a:lstStyle/>
              <a:p>
                <a:pPr>
                  <a:defRPr b="0" i="0" strike="noStrike" sz="1400" u="none">
                    <a:solidFill>
                      <a:srgbClr val="1B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CLIENT_INCONNU</c:v>
                  </c:pt>
                  <c:pt idx="1">
                    <c:v>QUANTITE_INVALIDE</c:v>
                  </c:pt>
                  <c:pt idx="2">
                    <c:v>DATE_INVALIDE</c:v>
                  </c:pt>
                  <c:pt idx="3">
                    <c:v>CHAMP_OBLIGATOIRE</c:v>
                  </c:pt>
                  <c:pt idx="4">
                    <c:v>REMISE_INVALIDE</c:v>
                  </c:pt>
                </c:lvl>
              </c:multiLvlStrCache>
            </c:multiLvlStrRef>
          </c:cat>
          <c:val>
            <c:numRef>
              <c:f>Sheet1!$B$2:$B$6</c:f>
              <c:numCache>
                <c:formatCode>General</c:formatCode>
                <c:ptCount val="5"/>
                <c:pt idx="0">
                  <c:v>14</c:v>
                </c:pt>
                <c:pt idx="1">
                  <c:v>14</c:v>
                </c:pt>
                <c:pt idx="2">
                  <c:v>4</c:v>
                </c:pt>
                <c:pt idx="3">
                  <c:v>4</c:v>
                </c:pt>
                <c:pt idx="4">
                  <c:v>2</c:v>
                </c:pt>
              </c:numCache>
            </c:numRef>
          </c:val>
        </c:ser>
        <c:dLbls>
          <c:numFmt formatCode="#,##0" sourceLinked="0"/>
          <c:txPr>
            <a:bodyPr/>
            <a:lstStyle/>
            <a:p>
              <a:pPr>
                <a:defRPr b="0" i="0" strike="noStrike" sz="14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2343B"/>
                </a:solidFill>
                <a:latin typeface="+mn-lt"/>
              </a:defRPr>
            </a:pPr>
            <a:r>
              <a:rPr sz="1600" b="0" i="0" u="none" strike="noStrike">
                <a:solidFill>
                  <a:srgbClr val="12343B"/>
                </a:solidFill>
                <a:latin typeface="+mn-lt"/>
              </a:rPr>
              <a:t>Ventes écrites par exécution</a:t>
            </a:r>
          </a:p>
        </c:rich>
      </c:tx>
      <c:layout/>
      <c:overlay val="0"/>
    </c:title>
    <c:autoTitleDeleted val="0"/>
    <c:plotArea>
      <c:layout/>
      <c:barChart>
        <c:barDir val="col"/>
        <c:grouping val="clustered"/>
        <c:varyColors val="0"/>
        <c:ser>
          <c:idx val="0"/>
          <c:order val="0"/>
          <c:tx>
            <c:strRef>
              <c:f>Sheet1!$B$1</c:f>
              <c:strCache>
                <c:ptCount val="1"/>
                <c:pt idx="0">
                  <c:v>1re exécution</c:v>
                </c:pt>
              </c:strCache>
            </c:strRef>
          </c:tx>
          <c:spPr>
            <a:solidFill>
              <a:srgbClr val="1F7A6D"/>
            </a:solidFill>
            <a:effectLst/>
          </c:spPr>
          <c:invertIfNegative val="0"/>
          <c:dLbls>
            <c:numFmt formatCode="#,##0" sourceLinked="0"/>
            <c:txPr>
              <a:bodyPr/>
              <a:lstStyle/>
              <a:p>
                <a:pPr>
                  <a:defRPr b="0" i="0" strike="noStrike" sz="1300" u="none">
                    <a:solidFill>
                      <a:srgbClr val="1B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Insérées</c:v>
                  </c:pt>
                  <c:pt idx="1">
                    <c:v>Mises à jour</c:v>
                  </c:pt>
                  <c:pt idx="2">
                    <c:v>Inchangées</c:v>
                  </c:pt>
                </c:lvl>
              </c:multiLvlStrCache>
            </c:multiLvlStrRef>
          </c:cat>
          <c:val>
            <c:numRef>
              <c:f>Sheet1!$B$2:$B$4</c:f>
              <c:numCache>
                <c:formatCode>General</c:formatCode>
                <c:ptCount val="3"/>
                <c:pt idx="0">
                  <c:v>711</c:v>
                </c:pt>
                <c:pt idx="1">
                  <c:v>0</c:v>
                </c:pt>
                <c:pt idx="2">
                  <c:v>0</c:v>
                </c:pt>
              </c:numCache>
            </c:numRef>
          </c:val>
        </c:ser>
        <c:ser>
          <c:idx val="1"/>
          <c:order val="1"/>
          <c:tx>
            <c:strRef>
              <c:f>Sheet1!$C$1</c:f>
              <c:strCache>
                <c:ptCount val="1"/>
                <c:pt idx="0">
                  <c:v>Exécution suivante</c:v>
                </c:pt>
              </c:strCache>
            </c:strRef>
          </c:tx>
          <c:spPr>
            <a:solidFill>
              <a:srgbClr val="E8A33D"/>
            </a:solidFill>
            <a:effectLst/>
          </c:spPr>
          <c:invertIfNegative val="0"/>
          <c:dLbls>
            <c:numFmt formatCode="#,##0" sourceLinked="0"/>
            <c:txPr>
              <a:bodyPr/>
              <a:lstStyle/>
              <a:p>
                <a:pPr>
                  <a:defRPr b="0" i="0" strike="noStrike" sz="1300" u="none">
                    <a:solidFill>
                      <a:srgbClr val="1B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Insérées</c:v>
                  </c:pt>
                  <c:pt idx="1">
                    <c:v>Mises à jour</c:v>
                  </c:pt>
                  <c:pt idx="2">
                    <c:v>Inchangées</c:v>
                  </c:pt>
                </c:lvl>
              </c:multiLvlStrCache>
            </c:multiLvlStrRef>
          </c:cat>
          <c:val>
            <c:numRef>
              <c:f>Sheet1!$C$2:$C$4</c:f>
              <c:numCache>
                <c:formatCode>General</c:formatCode>
                <c:ptCount val="3"/>
                <c:pt idx="0">
                  <c:v>0</c:v>
                </c:pt>
                <c:pt idx="1">
                  <c:v>0</c:v>
                </c:pt>
                <c:pt idx="2">
                  <c:v>711</c:v>
                </c:pt>
              </c:numCache>
            </c:numRef>
          </c:val>
        </c:ser>
        <c:dLbls>
          <c:numFmt formatCode="#,##0" sourceLinked="0"/>
          <c:txPr>
            <a:bodyPr/>
            <a:lstStyle/>
            <a:p>
              <a:pPr>
                <a:defRPr b="0" i="0" strike="noStrike" sz="13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groupe et du thème : une chaîne complète qui charge des ventes depuis des exports de caisse, les expose par une API REST et centralise les journaux pour vérifier les 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point de l'énoncé de l'exercice 5 correspond à un composant livré et testé. La suite de la présentation suit cet 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composants ne communiquent que par le réseau ou des fichiers. Airflow écrit dans MongoDB, l'API lit et modifie les mêmes collections, et chaque composant produit des journaux collectés par Filebeat. PostgreSQL ne sert qu'aux métadonnées d'Airflow.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générateur Python est déterministe : il produit toujours les mêmes fichiers. Les anomalies reproduisent les défauts réels des exports de caisse pour démontrer chaque règle du DAG.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tâches échangent des fichiers JSON dans un répertoire propre à l'exécution ; les XCom ne transportent que des compteurs. La dernière tâche s'exécute toujours, pour qu'une exécution en échec laisse aussi un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Onze règles de contrôle par vente : format de référence, date lisible et non future, client existant, quantité, prix, remise, mode de paiement, canal, statut. Aucune ligne ne disparaît sans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dédoublonnage porte sur l'ensemble des fichiers d'une exécution, ce qui couvre le chevauchement entre exports successifs. Le même principe s'applique aux clients avec le code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Résultat mesuré pendant la recette : 711 insertions au premier passage, puis 0 insertion, 0 mise à jour et 711 ventes inchangées. Une relance de tâche après panne ne crée pas de doublon, car toutes les écritures sont des upserts sur la clé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L'API est construite en couches : routes, validation Joi, contrôleurs, services, modèles Mongoose. Les filtres couvrent client, produit, catégorie, statut, mode de paiement, canal, période et montant.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erreurs ont la même structure. Le détail de validation liste chaque champ en défaut en une seule réponse. La pile d'appel n'est jamais renvoyée au client : elle n'est visible que dans les journaux.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L'API écrit une ligne JSON par requête. Filebeat lit les fichiers partagés par volume, Logstash ajoute la catégorie de statut et décode le bilan du DAG, Elasticsearch indexe avec des types explicites. Démonstration possible en direct avec l'identifiant de requête.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tests d'intégration utilisent une base dédiée et ne touchent pas aux données de démonstration. Le test de bout en bout pilote tout par HTTP : API REST d'Airflow, API ventes et Elasticsearch, puis vérifie que les erreurs provoquées sont bien indexées.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scénarios ont été exécutés pendant la recette. Le point clé : grâce à l'idempotence, relancer un DAG après une panne est sans risque.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Ordre de la démonstration. Prévoir la plateforme déjà démarrée avant la séance : le premier démarrage prend 2 à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sur ce qui est démontré, assumer les limites liées au cadre de démonstration, et ouvrir sur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123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73736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474720"/>
            <a:ext cx="10698480" cy="64008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Groupe 4 · SIE · IBAM · 2026</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
    <p:bg>
      <p:bgPr>
        <a:solidFill>
          <a:srgbClr val="12343B"/>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Groupe 4 · SIE · IBAM · 2026</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73736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API REST de ventes avec Express.js, Airflow, MongoDB et ELK</a:t>
            </a:r>
            <a:endParaRPr lang="en-US" sz="4000" dirty="0"/>
          </a:p>
        </p:txBody>
      </p:sp>
      <p:sp>
        <p:nvSpPr>
          <p:cNvPr id="3" name="Text 0"/>
          <p:cNvSpPr/>
          <p:nvPr>
            <p:ph idx="101" type="body" hasCustomPrompt="1"/>
          </p:nvPr>
        </p:nvSpPr>
        <p:spPr>
          <a:xfrm>
            <a:off x="731520" y="3474720"/>
            <a:ext cx="10698480" cy="640080"/>
          </a:xfrm>
          <a:prstGeom prst="rect">
            <a:avLst/>
          </a:prstGeom>
          <a:noFill/>
          <a:ln/>
        </p:spPr>
        <p:txBody>
          <a:bodyPr wrap="square" rtlCol="0" anchor="t"/>
          <a:lstStyle/>
          <a:p>
            <a:pPr indent="0" marL="0">
              <a:buNone/>
            </a:pPr>
            <a:r>
              <a:rPr lang="en-US" sz="2000" dirty="0">
                <a:solidFill>
                  <a:schemeClr val="accent2"/>
                </a:solidFill>
              </a:rPr>
              <a:t>Projet Développement à base de composants et services web · Thème 5</a:t>
            </a:r>
            <a:endParaRPr lang="en-US" sz="2000" dirty="0"/>
          </a:p>
        </p:txBody>
      </p:sp>
      <p:sp>
        <p:nvSpPr>
          <p:cNvPr id="4" name="texte-1"/>
          <p:cNvSpPr txBox="1"/>
          <p:nvPr/>
        </p:nvSpPr>
        <p:spPr>
          <a:xfrm>
            <a:off x="731520" y="4754880"/>
            <a:ext cx="10698480" cy="1097280"/>
          </a:xfrm>
          <a:prstGeom prst="rect">
            <a:avLst/>
          </a:prstGeom>
          <a:noFill/>
          <a:ln/>
        </p:spPr>
        <p:txBody>
          <a:bodyPr wrap="square" lIns="0" tIns="0" rIns="0" bIns="0" rtlCol="0" anchor="t"/>
          <a:lstStyle/>
          <a:p>
            <a:pPr indent="0" marL="0">
              <a:buNone/>
            </a:pPr>
            <a:r>
              <a:rPr lang="en-US" sz="1600" b="1" dirty="0">
                <a:solidFill>
                  <a:schemeClr val="bg2"/>
                </a:solidFill>
              </a:rPr>
              <a:t>Groupe 4 · Master 1 SIE · IBAM 2026</a:t>
            </a:r>
            <a:endParaRPr lang="en-US" sz="1600" dirty="0"/>
          </a:p>
          <a:p>
            <a:pPr indent="0" marL="0">
              <a:buNone/>
            </a:pPr>
            <a:r>
              <a:rPr lang="en-US" sz="1600" dirty="0">
                <a:solidFill>
                  <a:schemeClr val="bg2"/>
                </a:solidFill>
              </a:rPr>
              <a:t>KOBENDE Pégdwendé Evrard · PORGO Abdoul Nassirou · BAMBARA Mireille Epiphanie Joëlle Guerla · OUEDRAOGO Armand Hendrix · THIOMBIANO Yempabou Romaric Johan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Six exigences, six réalisations vérifiées</a:t>
            </a:r>
            <a:endParaRPr lang="en-US" sz="3200" dirty="0"/>
          </a:p>
        </p:txBody>
      </p:sp>
      <p:sp>
        <p:nvSpPr>
          <p:cNvPr id="3" name="carte-2"/>
          <p:cNvSpPr/>
          <p:nvPr/>
        </p:nvSpPr>
        <p:spPr>
          <a:xfrm>
            <a:off x="548640" y="1371600"/>
            <a:ext cx="3520440" cy="2240280"/>
          </a:xfrm>
          <a:prstGeom prst="roundRect">
            <a:avLst>
              <a:gd name="adj" fmla="val 3265"/>
            </a:avLst>
          </a:prstGeom>
          <a:solidFill>
            <a:schemeClr val="bg2"/>
          </a:solidFill>
          <a:ln w="12700">
            <a:solidFill>
              <a:schemeClr val="bg2"/>
            </a:solidFill>
            <a:prstDash val="solid"/>
          </a:ln>
        </p:spPr>
      </p:sp>
      <p:sp>
        <p:nvSpPr>
          <p:cNvPr id="4" name="pastille-3"/>
          <p:cNvSpPr/>
          <p:nvPr/>
        </p:nvSpPr>
        <p:spPr>
          <a:xfrm>
            <a:off x="822960" y="1645920"/>
            <a:ext cx="548640" cy="548640"/>
          </a:xfrm>
          <a:prstGeom prst="ellipse">
            <a:avLst/>
          </a:prstGeom>
          <a:solidFill>
            <a:schemeClr val="accent1"/>
          </a:solidFill>
          <a:ln w="12700">
            <a:solidFill>
              <a:schemeClr val="accent1"/>
            </a:solidFill>
            <a:prstDash val="solid"/>
          </a:ln>
        </p:spPr>
      </p:sp>
      <p:sp>
        <p:nvSpPr>
          <p:cNvPr id="5" name="numero-4"/>
          <p:cNvSpPr txBox="1"/>
          <p:nvPr/>
        </p:nvSpPr>
        <p:spPr>
          <a:xfrm>
            <a:off x="82296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e-5"/>
          <p:cNvSpPr txBox="1"/>
          <p:nvPr/>
        </p:nvSpPr>
        <p:spPr>
          <a:xfrm>
            <a:off x="1554480" y="1645920"/>
            <a:ext cx="228600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Données</a:t>
            </a:r>
            <a:endParaRPr lang="en-US" sz="2000" dirty="0"/>
          </a:p>
        </p:txBody>
      </p:sp>
      <p:sp>
        <p:nvSpPr>
          <p:cNvPr id="7" name="texte-6"/>
          <p:cNvSpPr txBox="1"/>
          <p:nvPr/>
        </p:nvSpPr>
        <p:spPr>
          <a:xfrm>
            <a:off x="822960" y="2377440"/>
            <a:ext cx="2971800" cy="1097280"/>
          </a:xfrm>
          <a:prstGeom prst="rect">
            <a:avLst/>
          </a:prstGeom>
          <a:noFill/>
          <a:ln/>
        </p:spPr>
        <p:txBody>
          <a:bodyPr wrap="square" lIns="0" tIns="0" rIns="0" bIns="0" rtlCol="0" anchor="t"/>
          <a:lstStyle/>
          <a:p>
            <a:pPr indent="0" marL="0">
              <a:buNone/>
            </a:pPr>
            <a:r>
              <a:rPr lang="en-US" sz="1500" dirty="0">
                <a:solidFill>
                  <a:schemeClr val="tx1"/>
                </a:solidFill>
              </a:rPr>
              <a:t>60 clients, 14 exports CSV journaliers, 843 lignes avec anomalies volontaires</a:t>
            </a:r>
            <a:endParaRPr lang="en-US" sz="1500" dirty="0"/>
          </a:p>
        </p:txBody>
      </p:sp>
      <p:sp>
        <p:nvSpPr>
          <p:cNvPr id="8" name="carte-7"/>
          <p:cNvSpPr/>
          <p:nvPr/>
        </p:nvSpPr>
        <p:spPr>
          <a:xfrm>
            <a:off x="4334256" y="1371600"/>
            <a:ext cx="3520440" cy="2240280"/>
          </a:xfrm>
          <a:prstGeom prst="roundRect">
            <a:avLst>
              <a:gd name="adj" fmla="val 3265"/>
            </a:avLst>
          </a:prstGeom>
          <a:solidFill>
            <a:schemeClr val="bg2"/>
          </a:solidFill>
          <a:ln w="12700">
            <a:solidFill>
              <a:schemeClr val="bg2"/>
            </a:solidFill>
            <a:prstDash val="solid"/>
          </a:ln>
        </p:spPr>
      </p:sp>
      <p:sp>
        <p:nvSpPr>
          <p:cNvPr id="9" name="pastille-8"/>
          <p:cNvSpPr/>
          <p:nvPr/>
        </p:nvSpPr>
        <p:spPr>
          <a:xfrm>
            <a:off x="4608576" y="1645920"/>
            <a:ext cx="548640" cy="548640"/>
          </a:xfrm>
          <a:prstGeom prst="ellipse">
            <a:avLst/>
          </a:prstGeom>
          <a:solidFill>
            <a:schemeClr val="accent1"/>
          </a:solidFill>
          <a:ln w="12700">
            <a:solidFill>
              <a:schemeClr val="accent1"/>
            </a:solidFill>
            <a:prstDash val="solid"/>
          </a:ln>
        </p:spPr>
      </p:sp>
      <p:sp>
        <p:nvSpPr>
          <p:cNvPr id="10" name="numero-9"/>
          <p:cNvSpPr txBox="1"/>
          <p:nvPr/>
        </p:nvSpPr>
        <p:spPr>
          <a:xfrm>
            <a:off x="4608576"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e-10"/>
          <p:cNvSpPr txBox="1"/>
          <p:nvPr/>
        </p:nvSpPr>
        <p:spPr>
          <a:xfrm>
            <a:off x="5340096" y="1645920"/>
            <a:ext cx="228600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DAG Airflow</a:t>
            </a:r>
            <a:endParaRPr lang="en-US" sz="2000" dirty="0"/>
          </a:p>
        </p:txBody>
      </p:sp>
      <p:sp>
        <p:nvSpPr>
          <p:cNvPr id="12" name="texte-11"/>
          <p:cNvSpPr txBox="1"/>
          <p:nvPr/>
        </p:nvSpPr>
        <p:spPr>
          <a:xfrm>
            <a:off x="4608576" y="2377440"/>
            <a:ext cx="2971800" cy="1097280"/>
          </a:xfrm>
          <a:prstGeom prst="rect">
            <a:avLst/>
          </a:prstGeom>
          <a:noFill/>
          <a:ln/>
        </p:spPr>
        <p:txBody>
          <a:bodyPr wrap="square" lIns="0" tIns="0" rIns="0" bIns="0" rtlCol="0" anchor="t"/>
          <a:lstStyle/>
          <a:p>
            <a:pPr indent="0" marL="0">
              <a:buNone/>
            </a:pPr>
            <a:r>
              <a:rPr lang="en-US" sz="1500" dirty="0">
                <a:solidFill>
                  <a:schemeClr val="tx1"/>
                </a:solidFill>
              </a:rPr>
              <a:t>7 tâches : extraction, contrôle, normalisation, chargement MongoDB, bilan</a:t>
            </a:r>
            <a:endParaRPr lang="en-US" sz="1500" dirty="0"/>
          </a:p>
        </p:txBody>
      </p:sp>
      <p:sp>
        <p:nvSpPr>
          <p:cNvPr id="13" name="carte-12"/>
          <p:cNvSpPr/>
          <p:nvPr/>
        </p:nvSpPr>
        <p:spPr>
          <a:xfrm>
            <a:off x="8119872" y="1371600"/>
            <a:ext cx="3520440" cy="2240280"/>
          </a:xfrm>
          <a:prstGeom prst="roundRect">
            <a:avLst>
              <a:gd name="adj" fmla="val 3265"/>
            </a:avLst>
          </a:prstGeom>
          <a:solidFill>
            <a:schemeClr val="bg2"/>
          </a:solidFill>
          <a:ln w="12700">
            <a:solidFill>
              <a:schemeClr val="bg2"/>
            </a:solidFill>
            <a:prstDash val="solid"/>
          </a:ln>
        </p:spPr>
      </p:sp>
      <p:sp>
        <p:nvSpPr>
          <p:cNvPr id="14" name="pastille-13"/>
          <p:cNvSpPr/>
          <p:nvPr/>
        </p:nvSpPr>
        <p:spPr>
          <a:xfrm>
            <a:off x="8394192" y="1645920"/>
            <a:ext cx="548640" cy="548640"/>
          </a:xfrm>
          <a:prstGeom prst="ellipse">
            <a:avLst/>
          </a:prstGeom>
          <a:solidFill>
            <a:schemeClr val="accent1"/>
          </a:solidFill>
          <a:ln w="12700">
            <a:solidFill>
              <a:schemeClr val="accent1"/>
            </a:solidFill>
            <a:prstDash val="solid"/>
          </a:ln>
        </p:spPr>
      </p:sp>
      <p:sp>
        <p:nvSpPr>
          <p:cNvPr id="15" name="numero-14"/>
          <p:cNvSpPr txBox="1"/>
          <p:nvPr/>
        </p:nvSpPr>
        <p:spPr>
          <a:xfrm>
            <a:off x="8394192"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e-15"/>
          <p:cNvSpPr txBox="1"/>
          <p:nvPr/>
        </p:nvSpPr>
        <p:spPr>
          <a:xfrm>
            <a:off x="9125712" y="1645920"/>
            <a:ext cx="228600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Idempotence</a:t>
            </a:r>
            <a:endParaRPr lang="en-US" sz="2000" dirty="0"/>
          </a:p>
        </p:txBody>
      </p:sp>
      <p:sp>
        <p:nvSpPr>
          <p:cNvPr id="17" name="texte-16"/>
          <p:cNvSpPr txBox="1"/>
          <p:nvPr/>
        </p:nvSpPr>
        <p:spPr>
          <a:xfrm>
            <a:off x="8394192" y="2377440"/>
            <a:ext cx="2971800" cy="1097280"/>
          </a:xfrm>
          <a:prstGeom prst="rect">
            <a:avLst/>
          </a:prstGeom>
          <a:noFill/>
          <a:ln/>
        </p:spPr>
        <p:txBody>
          <a:bodyPr wrap="square" lIns="0" tIns="0" rIns="0" bIns="0" rtlCol="0" anchor="t"/>
          <a:lstStyle/>
          <a:p>
            <a:pPr indent="0" marL="0">
              <a:buNone/>
            </a:pPr>
            <a:r>
              <a:rPr lang="en-US" sz="1500" dirty="0">
                <a:solidFill>
                  <a:schemeClr val="tx1"/>
                </a:solidFill>
              </a:rPr>
              <a:t>Upsert sur la référence et empreinte SHA-256 ; doublons historisés</a:t>
            </a:r>
            <a:endParaRPr lang="en-US" sz="1500" dirty="0"/>
          </a:p>
        </p:txBody>
      </p:sp>
      <p:sp>
        <p:nvSpPr>
          <p:cNvPr id="18" name="carte-17"/>
          <p:cNvSpPr/>
          <p:nvPr/>
        </p:nvSpPr>
        <p:spPr>
          <a:xfrm>
            <a:off x="548640" y="3886200"/>
            <a:ext cx="3520440" cy="2240280"/>
          </a:xfrm>
          <a:prstGeom prst="roundRect">
            <a:avLst>
              <a:gd name="adj" fmla="val 3265"/>
            </a:avLst>
          </a:prstGeom>
          <a:solidFill>
            <a:schemeClr val="bg2"/>
          </a:solidFill>
          <a:ln w="12700">
            <a:solidFill>
              <a:schemeClr val="bg2"/>
            </a:solidFill>
            <a:prstDash val="solid"/>
          </a:ln>
        </p:spPr>
      </p:sp>
      <p:sp>
        <p:nvSpPr>
          <p:cNvPr id="19" name="pastille-18"/>
          <p:cNvSpPr/>
          <p:nvPr/>
        </p:nvSpPr>
        <p:spPr>
          <a:xfrm>
            <a:off x="822960" y="4160520"/>
            <a:ext cx="548640" cy="548640"/>
          </a:xfrm>
          <a:prstGeom prst="ellipse">
            <a:avLst/>
          </a:prstGeom>
          <a:solidFill>
            <a:schemeClr val="accent1"/>
          </a:solidFill>
          <a:ln w="12700">
            <a:solidFill>
              <a:schemeClr val="accent1"/>
            </a:solidFill>
            <a:prstDash val="solid"/>
          </a:ln>
        </p:spPr>
      </p:sp>
      <p:sp>
        <p:nvSpPr>
          <p:cNvPr id="20" name="numero-19"/>
          <p:cNvSpPr txBox="1"/>
          <p:nvPr/>
        </p:nvSpPr>
        <p:spPr>
          <a:xfrm>
            <a:off x="822960" y="4160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e-20"/>
          <p:cNvSpPr txBox="1"/>
          <p:nvPr/>
        </p:nvSpPr>
        <p:spPr>
          <a:xfrm>
            <a:off x="1554480" y="4160520"/>
            <a:ext cx="228600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API CRUD</a:t>
            </a:r>
            <a:endParaRPr lang="en-US" sz="2000" dirty="0"/>
          </a:p>
        </p:txBody>
      </p:sp>
      <p:sp>
        <p:nvSpPr>
          <p:cNvPr id="22" name="texte-21"/>
          <p:cNvSpPr txBox="1"/>
          <p:nvPr/>
        </p:nvSpPr>
        <p:spPr>
          <a:xfrm>
            <a:off x="822960" y="4892040"/>
            <a:ext cx="2971800" cy="1097280"/>
          </a:xfrm>
          <a:prstGeom prst="rect">
            <a:avLst/>
          </a:prstGeom>
          <a:noFill/>
          <a:ln/>
        </p:spPr>
        <p:txBody>
          <a:bodyPr wrap="square" lIns="0" tIns="0" rIns="0" bIns="0" rtlCol="0" anchor="t"/>
          <a:lstStyle/>
          <a:p>
            <a:pPr indent="0" marL="0">
              <a:buNone/>
            </a:pPr>
            <a:r>
              <a:rPr lang="en-US" sz="1500" dirty="0">
                <a:solidFill>
                  <a:schemeClr val="tx1"/>
                </a:solidFill>
              </a:rPr>
              <a:t>Express 5, Mongoose, validation Joi, filtres, pagination, OpenAPI</a:t>
            </a:r>
            <a:endParaRPr lang="en-US" sz="1500" dirty="0"/>
          </a:p>
        </p:txBody>
      </p:sp>
      <p:sp>
        <p:nvSpPr>
          <p:cNvPr id="23" name="carte-22"/>
          <p:cNvSpPr/>
          <p:nvPr/>
        </p:nvSpPr>
        <p:spPr>
          <a:xfrm>
            <a:off x="4334256" y="3886200"/>
            <a:ext cx="3520440" cy="2240280"/>
          </a:xfrm>
          <a:prstGeom prst="roundRect">
            <a:avLst>
              <a:gd name="adj" fmla="val 3265"/>
            </a:avLst>
          </a:prstGeom>
          <a:solidFill>
            <a:schemeClr val="bg2"/>
          </a:solidFill>
          <a:ln w="12700">
            <a:solidFill>
              <a:schemeClr val="bg2"/>
            </a:solidFill>
            <a:prstDash val="solid"/>
          </a:ln>
        </p:spPr>
      </p:sp>
      <p:sp>
        <p:nvSpPr>
          <p:cNvPr id="24" name="pastille-23"/>
          <p:cNvSpPr/>
          <p:nvPr/>
        </p:nvSpPr>
        <p:spPr>
          <a:xfrm>
            <a:off x="4608576" y="4160520"/>
            <a:ext cx="548640" cy="548640"/>
          </a:xfrm>
          <a:prstGeom prst="ellipse">
            <a:avLst/>
          </a:prstGeom>
          <a:solidFill>
            <a:schemeClr val="accent1"/>
          </a:solidFill>
          <a:ln w="12700">
            <a:solidFill>
              <a:schemeClr val="accent1"/>
            </a:solidFill>
            <a:prstDash val="solid"/>
          </a:ln>
        </p:spPr>
      </p:sp>
      <p:sp>
        <p:nvSpPr>
          <p:cNvPr id="25" name="numero-24"/>
          <p:cNvSpPr txBox="1"/>
          <p:nvPr/>
        </p:nvSpPr>
        <p:spPr>
          <a:xfrm>
            <a:off x="4608576" y="4160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e-25"/>
          <p:cNvSpPr txBox="1"/>
          <p:nvPr/>
        </p:nvSpPr>
        <p:spPr>
          <a:xfrm>
            <a:off x="5340096" y="4160520"/>
            <a:ext cx="228600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Journaux ELK</a:t>
            </a:r>
            <a:endParaRPr lang="en-US" sz="2000" dirty="0"/>
          </a:p>
        </p:txBody>
      </p:sp>
      <p:sp>
        <p:nvSpPr>
          <p:cNvPr id="27" name="texte-26"/>
          <p:cNvSpPr txBox="1"/>
          <p:nvPr/>
        </p:nvSpPr>
        <p:spPr>
          <a:xfrm>
            <a:off x="4608576" y="4892040"/>
            <a:ext cx="2971800" cy="1097280"/>
          </a:xfrm>
          <a:prstGeom prst="rect">
            <a:avLst/>
          </a:prstGeom>
          <a:noFill/>
          <a:ln/>
        </p:spPr>
        <p:txBody>
          <a:bodyPr wrap="square" lIns="0" tIns="0" rIns="0" bIns="0" rtlCol="0" anchor="t"/>
          <a:lstStyle/>
          <a:p>
            <a:pPr indent="0" marL="0">
              <a:buNone/>
            </a:pPr>
            <a:r>
              <a:rPr lang="en-US" sz="1500" dirty="0">
                <a:solidFill>
                  <a:schemeClr val="tx1"/>
                </a:solidFill>
              </a:rPr>
              <a:t>Journaux JSON corrélés par X‑Request‑Id, visibles dans Kibana</a:t>
            </a:r>
            <a:endParaRPr lang="en-US" sz="1500" dirty="0"/>
          </a:p>
        </p:txBody>
      </p:sp>
      <p:sp>
        <p:nvSpPr>
          <p:cNvPr id="28" name="carte-27"/>
          <p:cNvSpPr/>
          <p:nvPr/>
        </p:nvSpPr>
        <p:spPr>
          <a:xfrm>
            <a:off x="8119872" y="3886200"/>
            <a:ext cx="3520440" cy="2240280"/>
          </a:xfrm>
          <a:prstGeom prst="roundRect">
            <a:avLst>
              <a:gd name="adj" fmla="val 3265"/>
            </a:avLst>
          </a:prstGeom>
          <a:solidFill>
            <a:schemeClr val="bg2"/>
          </a:solidFill>
          <a:ln w="12700">
            <a:solidFill>
              <a:schemeClr val="bg2"/>
            </a:solidFill>
            <a:prstDash val="solid"/>
          </a:ln>
        </p:spPr>
      </p:sp>
      <p:sp>
        <p:nvSpPr>
          <p:cNvPr id="29" name="pastille-28"/>
          <p:cNvSpPr/>
          <p:nvPr/>
        </p:nvSpPr>
        <p:spPr>
          <a:xfrm>
            <a:off x="8394192" y="4160520"/>
            <a:ext cx="548640" cy="548640"/>
          </a:xfrm>
          <a:prstGeom prst="ellipse">
            <a:avLst/>
          </a:prstGeom>
          <a:solidFill>
            <a:schemeClr val="accent1"/>
          </a:solidFill>
          <a:ln w="12700">
            <a:solidFill>
              <a:schemeClr val="accent1"/>
            </a:solidFill>
            <a:prstDash val="solid"/>
          </a:ln>
        </p:spPr>
      </p:sp>
      <p:sp>
        <p:nvSpPr>
          <p:cNvPr id="30" name="numero-29"/>
          <p:cNvSpPr txBox="1"/>
          <p:nvPr/>
        </p:nvSpPr>
        <p:spPr>
          <a:xfrm>
            <a:off x="8394192" y="4160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e-30"/>
          <p:cNvSpPr txBox="1"/>
          <p:nvPr/>
        </p:nvSpPr>
        <p:spPr>
          <a:xfrm>
            <a:off x="9125712" y="4160520"/>
            <a:ext cx="228600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Tests</a:t>
            </a:r>
            <a:endParaRPr lang="en-US" sz="2000" dirty="0"/>
          </a:p>
        </p:txBody>
      </p:sp>
      <p:sp>
        <p:nvSpPr>
          <p:cNvPr id="32" name="texte-31"/>
          <p:cNvSpPr txBox="1"/>
          <p:nvPr/>
        </p:nvSpPr>
        <p:spPr>
          <a:xfrm>
            <a:off x="8394192" y="4892040"/>
            <a:ext cx="2971800" cy="1097280"/>
          </a:xfrm>
          <a:prstGeom prst="rect">
            <a:avLst/>
          </a:prstGeom>
          <a:noFill/>
          <a:ln/>
        </p:spPr>
        <p:txBody>
          <a:bodyPr wrap="square" lIns="0" tIns="0" rIns="0" bIns="0" rtlCol="0" anchor="t"/>
          <a:lstStyle/>
          <a:p>
            <a:pPr indent="0" marL="0">
              <a:buNone/>
            </a:pPr>
            <a:r>
              <a:rPr lang="en-US" sz="1500" dirty="0">
                <a:solidFill>
                  <a:schemeClr val="tx1"/>
                </a:solidFill>
              </a:rPr>
              <a:t>Jest, pytest, Postman/Newman et test de bout en bout de la chaîne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Architecture : quatre blocs reliés par des interfaces</a:t>
            </a:r>
            <a:endParaRPr lang="en-US" sz="3200" dirty="0"/>
          </a:p>
        </p:txBody>
      </p:sp>
      <p:sp>
        <p:nvSpPr>
          <p:cNvPr id="3" name="carte-32"/>
          <p:cNvSpPr/>
          <p:nvPr/>
        </p:nvSpPr>
        <p:spPr>
          <a:xfrm>
            <a:off x="548640" y="1828800"/>
            <a:ext cx="2011680" cy="1188720"/>
          </a:xfrm>
          <a:prstGeom prst="roundRect">
            <a:avLst>
              <a:gd name="adj" fmla="val 6154"/>
            </a:avLst>
          </a:prstGeom>
          <a:solidFill>
            <a:schemeClr val="bg2"/>
          </a:solidFill>
          <a:ln w="12700">
            <a:solidFill>
              <a:schemeClr val="bg2"/>
            </a:solidFill>
            <a:prstDash val="solid"/>
          </a:ln>
        </p:spPr>
      </p:sp>
      <p:sp>
        <p:nvSpPr>
          <p:cNvPr id="4" name="bloc-33"/>
          <p:cNvSpPr txBox="1"/>
          <p:nvPr/>
        </p:nvSpPr>
        <p:spPr>
          <a:xfrm>
            <a:off x="685800" y="1828800"/>
            <a:ext cx="1737360" cy="1188720"/>
          </a:xfrm>
          <a:prstGeom prst="rect">
            <a:avLst/>
          </a:prstGeom>
          <a:noFill/>
          <a:ln/>
        </p:spPr>
        <p:txBody>
          <a:bodyPr wrap="square" lIns="0" tIns="0" rIns="0" bIns="0" rtlCol="0" anchor="ctr"/>
          <a:lstStyle/>
          <a:p>
            <a:pPr algn="ctr" indent="0" marL="0">
              <a:buNone/>
            </a:pPr>
            <a:r>
              <a:rPr lang="en-US" sz="1800" b="1" dirty="0">
                <a:solidFill>
                  <a:schemeClr val="tx2"/>
                </a:solidFill>
              </a:rPr>
              <a:t>Exports CSV</a:t>
            </a:r>
            <a:endParaRPr lang="en-US" sz="1800" dirty="0"/>
          </a:p>
          <a:p>
            <a:pPr algn="ctr" indent="0" marL="0">
              <a:buNone/>
            </a:pPr>
            <a:r>
              <a:rPr lang="en-US" sz="1400" dirty="0">
                <a:solidFill>
                  <a:schemeClr val="tx2"/>
                </a:solidFill>
              </a:rPr>
              <a:t>clients, ventes</a:t>
            </a:r>
            <a:endParaRPr lang="en-US" sz="1800" dirty="0"/>
          </a:p>
        </p:txBody>
      </p:sp>
      <p:sp>
        <p:nvSpPr>
          <p:cNvPr id="5" name="carte-34"/>
          <p:cNvSpPr/>
          <p:nvPr/>
        </p:nvSpPr>
        <p:spPr>
          <a:xfrm>
            <a:off x="3108960" y="1463040"/>
            <a:ext cx="2926080" cy="1920240"/>
          </a:xfrm>
          <a:prstGeom prst="roundRect">
            <a:avLst>
              <a:gd name="adj" fmla="val 3810"/>
            </a:avLst>
          </a:prstGeom>
          <a:solidFill>
            <a:schemeClr val="accent1"/>
          </a:solidFill>
          <a:ln w="12700">
            <a:solidFill>
              <a:schemeClr val="accent1"/>
            </a:solidFill>
            <a:prstDash val="solid"/>
          </a:ln>
        </p:spPr>
      </p:sp>
      <p:sp>
        <p:nvSpPr>
          <p:cNvPr id="6" name="bloc-35"/>
          <p:cNvSpPr txBox="1"/>
          <p:nvPr/>
        </p:nvSpPr>
        <p:spPr>
          <a:xfrm>
            <a:off x="3246120" y="1463040"/>
            <a:ext cx="2651760" cy="1920240"/>
          </a:xfrm>
          <a:prstGeom prst="rect">
            <a:avLst/>
          </a:prstGeom>
          <a:noFill/>
          <a:ln/>
        </p:spPr>
        <p:txBody>
          <a:bodyPr wrap="square" lIns="0" tIns="0" rIns="0" bIns="0" rtlCol="0" anchor="ctr"/>
          <a:lstStyle/>
          <a:p>
            <a:pPr algn="ctr" indent="0" marL="0">
              <a:buNone/>
            </a:pPr>
            <a:r>
              <a:rPr lang="en-US" sz="1800" b="1" dirty="0">
                <a:solidFill>
                  <a:schemeClr val="bg1"/>
                </a:solidFill>
              </a:rPr>
              <a:t>Airflow 2.10</a:t>
            </a:r>
            <a:endParaRPr lang="en-US" sz="1800" dirty="0"/>
          </a:p>
          <a:p>
            <a:pPr algn="ctr" indent="0" marL="0">
              <a:buNone/>
            </a:pPr>
            <a:r>
              <a:rPr lang="en-US" sz="1400" dirty="0">
                <a:solidFill>
                  <a:schemeClr val="bg1"/>
                </a:solidFill>
              </a:rPr>
              <a:t>DAG ventes_etl</a:t>
            </a:r>
            <a:endParaRPr lang="en-US" sz="1800" dirty="0"/>
          </a:p>
          <a:p>
            <a:pPr algn="ctr" indent="0" marL="0">
              <a:buNone/>
            </a:pPr>
            <a:r>
              <a:rPr lang="en-US" sz="1400" dirty="0">
                <a:solidFill>
                  <a:schemeClr val="bg1"/>
                </a:solidFill>
              </a:rPr>
              <a:t>7 tâches</a:t>
            </a:r>
            <a:endParaRPr lang="en-US" sz="1800" dirty="0"/>
          </a:p>
        </p:txBody>
      </p:sp>
      <p:sp>
        <p:nvSpPr>
          <p:cNvPr id="7" name="carte-36"/>
          <p:cNvSpPr/>
          <p:nvPr/>
        </p:nvSpPr>
        <p:spPr>
          <a:xfrm>
            <a:off x="6675120" y="1828800"/>
            <a:ext cx="2194560" cy="1188720"/>
          </a:xfrm>
          <a:prstGeom prst="roundRect">
            <a:avLst>
              <a:gd name="adj" fmla="val 6154"/>
            </a:avLst>
          </a:prstGeom>
          <a:solidFill>
            <a:schemeClr val="accent1"/>
          </a:solidFill>
          <a:ln w="12700">
            <a:solidFill>
              <a:schemeClr val="accent1"/>
            </a:solidFill>
            <a:prstDash val="solid"/>
          </a:ln>
        </p:spPr>
      </p:sp>
      <p:sp>
        <p:nvSpPr>
          <p:cNvPr id="8" name="bloc-37"/>
          <p:cNvSpPr txBox="1"/>
          <p:nvPr/>
        </p:nvSpPr>
        <p:spPr>
          <a:xfrm>
            <a:off x="6812280" y="1828800"/>
            <a:ext cx="1920240" cy="1188720"/>
          </a:xfrm>
          <a:prstGeom prst="rect">
            <a:avLst/>
          </a:prstGeom>
          <a:noFill/>
          <a:ln/>
        </p:spPr>
        <p:txBody>
          <a:bodyPr wrap="square" lIns="0" tIns="0" rIns="0" bIns="0" rtlCol="0" anchor="ctr"/>
          <a:lstStyle/>
          <a:p>
            <a:pPr algn="ctr" indent="0" marL="0">
              <a:buNone/>
            </a:pPr>
            <a:r>
              <a:rPr lang="en-US" sz="1800" b="1" dirty="0">
                <a:solidFill>
                  <a:schemeClr val="bg1"/>
                </a:solidFill>
              </a:rPr>
              <a:t>MongoDB 7</a:t>
            </a:r>
            <a:endParaRPr lang="en-US" sz="1800" dirty="0"/>
          </a:p>
          <a:p>
            <a:pPr algn="ctr" indent="0" marL="0">
              <a:buNone/>
            </a:pPr>
            <a:r>
              <a:rPr lang="en-US" sz="1400" dirty="0">
                <a:solidFill>
                  <a:schemeClr val="bg1"/>
                </a:solidFill>
              </a:rPr>
              <a:t>ventes_db</a:t>
            </a:r>
            <a:endParaRPr lang="en-US" sz="1800" dirty="0"/>
          </a:p>
        </p:txBody>
      </p:sp>
      <p:sp>
        <p:nvSpPr>
          <p:cNvPr id="9" name="carte-38"/>
          <p:cNvSpPr/>
          <p:nvPr/>
        </p:nvSpPr>
        <p:spPr>
          <a:xfrm>
            <a:off x="9418320" y="1828800"/>
            <a:ext cx="2194560" cy="1188720"/>
          </a:xfrm>
          <a:prstGeom prst="roundRect">
            <a:avLst>
              <a:gd name="adj" fmla="val 6154"/>
            </a:avLst>
          </a:prstGeom>
          <a:solidFill>
            <a:schemeClr val="accent1"/>
          </a:solidFill>
          <a:ln w="12700">
            <a:solidFill>
              <a:schemeClr val="accent1"/>
            </a:solidFill>
            <a:prstDash val="solid"/>
          </a:ln>
        </p:spPr>
      </p:sp>
      <p:sp>
        <p:nvSpPr>
          <p:cNvPr id="10" name="bloc-39"/>
          <p:cNvSpPr txBox="1"/>
          <p:nvPr/>
        </p:nvSpPr>
        <p:spPr>
          <a:xfrm>
            <a:off x="9555480" y="1828800"/>
            <a:ext cx="1920240" cy="1188720"/>
          </a:xfrm>
          <a:prstGeom prst="rect">
            <a:avLst/>
          </a:prstGeom>
          <a:noFill/>
          <a:ln/>
        </p:spPr>
        <p:txBody>
          <a:bodyPr wrap="square" lIns="0" tIns="0" rIns="0" bIns="0" rtlCol="0" anchor="ctr"/>
          <a:lstStyle/>
          <a:p>
            <a:pPr algn="ctr" indent="0" marL="0">
              <a:buNone/>
            </a:pPr>
            <a:r>
              <a:rPr lang="en-US" sz="1800" b="1" dirty="0">
                <a:solidFill>
                  <a:schemeClr val="bg1"/>
                </a:solidFill>
              </a:rPr>
              <a:t>API Express 5</a:t>
            </a:r>
            <a:endParaRPr lang="en-US" sz="1800" dirty="0"/>
          </a:p>
          <a:p>
            <a:pPr algn="ctr" indent="0" marL="0">
              <a:buNone/>
            </a:pPr>
            <a:r>
              <a:rPr lang="en-US" sz="1400" dirty="0">
                <a:solidFill>
                  <a:schemeClr val="bg1"/>
                </a:solidFill>
              </a:rPr>
              <a:t>port 3000</a:t>
            </a:r>
            <a:endParaRPr lang="en-US" sz="1800" dirty="0"/>
          </a:p>
        </p:txBody>
      </p:sp>
      <p:sp>
        <p:nvSpPr>
          <p:cNvPr id="11" name="carte-40"/>
          <p:cNvSpPr/>
          <p:nvPr/>
        </p:nvSpPr>
        <p:spPr>
          <a:xfrm>
            <a:off x="3108960" y="4572000"/>
            <a:ext cx="8503920" cy="1097280"/>
          </a:xfrm>
          <a:prstGeom prst="roundRect">
            <a:avLst>
              <a:gd name="adj" fmla="val 6667"/>
            </a:avLst>
          </a:prstGeom>
          <a:solidFill>
            <a:schemeClr val="tx2"/>
          </a:solidFill>
          <a:ln w="12700">
            <a:solidFill>
              <a:schemeClr val="tx2"/>
            </a:solidFill>
            <a:prstDash val="solid"/>
          </a:ln>
        </p:spPr>
      </p:sp>
      <p:sp>
        <p:nvSpPr>
          <p:cNvPr id="12" name="bloc-41"/>
          <p:cNvSpPr txBox="1"/>
          <p:nvPr/>
        </p:nvSpPr>
        <p:spPr>
          <a:xfrm>
            <a:off x="3246120" y="4572000"/>
            <a:ext cx="8229600" cy="1097280"/>
          </a:xfrm>
          <a:prstGeom prst="rect">
            <a:avLst/>
          </a:prstGeom>
          <a:noFill/>
          <a:ln/>
        </p:spPr>
        <p:txBody>
          <a:bodyPr wrap="square" lIns="0" tIns="0" rIns="0" bIns="0" rtlCol="0" anchor="ctr"/>
          <a:lstStyle/>
          <a:p>
            <a:pPr algn="ctr" indent="0" marL="0">
              <a:buNone/>
            </a:pPr>
            <a:r>
              <a:rPr lang="en-US" sz="1800" b="1" dirty="0">
                <a:solidFill>
                  <a:schemeClr val="bg1"/>
                </a:solidFill>
              </a:rPr>
              <a:t>Filebeat → Logstash → Elasticsearch → Kibana</a:t>
            </a:r>
            <a:endParaRPr lang="en-US" sz="1800" dirty="0"/>
          </a:p>
          <a:p>
            <a:pPr algn="ctr" indent="0" marL="0">
              <a:buNone/>
            </a:pPr>
            <a:r>
              <a:rPr lang="en-US" sz="1400" dirty="0">
                <a:solidFill>
                  <a:schemeClr val="bg1"/>
                </a:solidFill>
              </a:rPr>
              <a:t>centralisation et recherche des journaux</a:t>
            </a:r>
            <a:endParaRPr lang="en-US" sz="1800" dirty="0"/>
          </a:p>
        </p:txBody>
      </p:sp>
      <p:sp>
        <p:nvSpPr>
          <p:cNvPr id="13" name="fleche-42"/>
          <p:cNvSpPr/>
          <p:nvPr/>
        </p:nvSpPr>
        <p:spPr>
          <a:xfrm>
            <a:off x="2606040" y="2423160"/>
            <a:ext cx="457200" cy="0"/>
          </a:xfrm>
          <a:prstGeom prst="line">
            <a:avLst/>
          </a:prstGeom>
          <a:noFill/>
          <a:ln w="25400">
            <a:solidFill>
              <a:srgbClr val="6B7C82"/>
            </a:solidFill>
            <a:prstDash val="solid"/>
            <a:tailEnd type="triangle"/>
          </a:ln>
        </p:spPr>
      </p:sp>
      <p:sp>
        <p:nvSpPr>
          <p:cNvPr id="14" name="fleche-43"/>
          <p:cNvSpPr/>
          <p:nvPr/>
        </p:nvSpPr>
        <p:spPr>
          <a:xfrm>
            <a:off x="6080760" y="2423160"/>
            <a:ext cx="548640" cy="0"/>
          </a:xfrm>
          <a:prstGeom prst="line">
            <a:avLst/>
          </a:prstGeom>
          <a:noFill/>
          <a:ln w="25400">
            <a:solidFill>
              <a:srgbClr val="6B7C82"/>
            </a:solidFill>
            <a:prstDash val="solid"/>
            <a:tailEnd type="triangle"/>
          </a:ln>
        </p:spPr>
      </p:sp>
      <p:sp>
        <p:nvSpPr>
          <p:cNvPr id="15" name="fleche-44"/>
          <p:cNvSpPr/>
          <p:nvPr/>
        </p:nvSpPr>
        <p:spPr>
          <a:xfrm flipH="1">
            <a:off x="8915400" y="2423160"/>
            <a:ext cx="457200" cy="0"/>
          </a:xfrm>
          <a:prstGeom prst="line">
            <a:avLst/>
          </a:prstGeom>
          <a:noFill/>
          <a:ln w="25400">
            <a:solidFill>
              <a:srgbClr val="6B7C82"/>
            </a:solidFill>
            <a:prstDash val="solid"/>
            <a:tailEnd type="triangle"/>
          </a:ln>
        </p:spPr>
      </p:sp>
      <p:sp>
        <p:nvSpPr>
          <p:cNvPr id="16" name="fleche-45"/>
          <p:cNvSpPr/>
          <p:nvPr/>
        </p:nvSpPr>
        <p:spPr>
          <a:xfrm>
            <a:off x="4572000" y="3429000"/>
            <a:ext cx="0" cy="1097280"/>
          </a:xfrm>
          <a:prstGeom prst="line">
            <a:avLst/>
          </a:prstGeom>
          <a:noFill/>
          <a:ln w="25400">
            <a:solidFill>
              <a:srgbClr val="6B7C82"/>
            </a:solidFill>
            <a:prstDash val="solid"/>
            <a:tailEnd type="triangle"/>
          </a:ln>
        </p:spPr>
      </p:sp>
      <p:sp>
        <p:nvSpPr>
          <p:cNvPr id="17" name="fleche-46"/>
          <p:cNvSpPr/>
          <p:nvPr/>
        </p:nvSpPr>
        <p:spPr>
          <a:xfrm>
            <a:off x="10515600" y="3063240"/>
            <a:ext cx="0" cy="1463040"/>
          </a:xfrm>
          <a:prstGeom prst="line">
            <a:avLst/>
          </a:prstGeom>
          <a:noFill/>
          <a:ln w="25400">
            <a:solidFill>
              <a:srgbClr val="6B7C82"/>
            </a:solidFill>
            <a:prstDash val="solid"/>
            <a:tailEnd type="triangle"/>
          </a:ln>
        </p:spPr>
      </p:sp>
      <p:sp>
        <p:nvSpPr>
          <p:cNvPr id="18" name="texte-47"/>
          <p:cNvSpPr txBox="1"/>
          <p:nvPr/>
        </p:nvSpPr>
        <p:spPr>
          <a:xfrm>
            <a:off x="5989320" y="2057400"/>
            <a:ext cx="731520" cy="274320"/>
          </a:xfrm>
          <a:prstGeom prst="rect">
            <a:avLst/>
          </a:prstGeom>
          <a:noFill/>
          <a:ln/>
        </p:spPr>
        <p:txBody>
          <a:bodyPr wrap="square" lIns="0" tIns="0" rIns="0" bIns="0" rtlCol="0" anchor="t"/>
          <a:lstStyle/>
          <a:p>
            <a:pPr algn="ctr" indent="0" marL="0">
              <a:buNone/>
            </a:pPr>
            <a:r>
              <a:rPr lang="en-US" sz="1200" dirty="0">
                <a:solidFill>
                  <a:schemeClr val="accent5"/>
                </a:solidFill>
              </a:rPr>
              <a:t>upsert</a:t>
            </a:r>
            <a:endParaRPr lang="en-US" sz="1200" dirty="0"/>
          </a:p>
        </p:txBody>
      </p:sp>
      <p:sp>
        <p:nvSpPr>
          <p:cNvPr id="19" name="texte-48"/>
          <p:cNvSpPr txBox="1"/>
          <p:nvPr/>
        </p:nvSpPr>
        <p:spPr>
          <a:xfrm>
            <a:off x="8778240" y="2057400"/>
            <a:ext cx="731520" cy="274320"/>
          </a:xfrm>
          <a:prstGeom prst="rect">
            <a:avLst/>
          </a:prstGeom>
          <a:noFill/>
          <a:ln/>
        </p:spPr>
        <p:txBody>
          <a:bodyPr wrap="square" lIns="0" tIns="0" rIns="0" bIns="0" rtlCol="0" anchor="t"/>
          <a:lstStyle/>
          <a:p>
            <a:pPr algn="ctr" indent="0" marL="0">
              <a:buNone/>
            </a:pPr>
            <a:r>
              <a:rPr lang="en-US" sz="1200" dirty="0">
                <a:solidFill>
                  <a:schemeClr val="accent5"/>
                </a:solidFill>
              </a:rPr>
              <a:t>CRUD</a:t>
            </a:r>
            <a:endParaRPr lang="en-US" sz="1200" dirty="0"/>
          </a:p>
        </p:txBody>
      </p:sp>
      <p:sp>
        <p:nvSpPr>
          <p:cNvPr id="20" name="texte-49"/>
          <p:cNvSpPr txBox="1"/>
          <p:nvPr/>
        </p:nvSpPr>
        <p:spPr>
          <a:xfrm>
            <a:off x="4709160" y="3840480"/>
            <a:ext cx="2011680" cy="274320"/>
          </a:xfrm>
          <a:prstGeom prst="rect">
            <a:avLst/>
          </a:prstGeom>
          <a:noFill/>
          <a:ln/>
        </p:spPr>
        <p:txBody>
          <a:bodyPr wrap="square" lIns="0" tIns="0" rIns="0" bIns="0" rtlCol="0" anchor="t"/>
          <a:lstStyle/>
          <a:p>
            <a:pPr indent="0" marL="0">
              <a:buNone/>
            </a:pPr>
            <a:r>
              <a:rPr lang="en-US" sz="1200" dirty="0">
                <a:solidFill>
                  <a:schemeClr val="accent5"/>
                </a:solidFill>
              </a:rPr>
              <a:t>journaux des tâches</a:t>
            </a:r>
            <a:endParaRPr lang="en-US" sz="1200" dirty="0"/>
          </a:p>
        </p:txBody>
      </p:sp>
      <p:sp>
        <p:nvSpPr>
          <p:cNvPr id="21" name="texte-50"/>
          <p:cNvSpPr txBox="1"/>
          <p:nvPr/>
        </p:nvSpPr>
        <p:spPr>
          <a:xfrm>
            <a:off x="9052560" y="3840480"/>
            <a:ext cx="1371600" cy="274320"/>
          </a:xfrm>
          <a:prstGeom prst="rect">
            <a:avLst/>
          </a:prstGeom>
          <a:noFill/>
          <a:ln/>
        </p:spPr>
        <p:txBody>
          <a:bodyPr wrap="square" lIns="0" tIns="0" rIns="0" bIns="0" rtlCol="0" anchor="t"/>
          <a:lstStyle/>
          <a:p>
            <a:pPr algn="r" indent="0" marL="0">
              <a:buNone/>
            </a:pPr>
            <a:r>
              <a:rPr lang="en-US" sz="1200" dirty="0">
                <a:solidFill>
                  <a:schemeClr val="accent5"/>
                </a:solidFill>
              </a:rPr>
              <a:t>api.log (JSON)</a:t>
            </a:r>
            <a:endParaRPr lang="en-US" sz="1200" dirty="0"/>
          </a:p>
        </p:txBody>
      </p:sp>
      <p:sp>
        <p:nvSpPr>
          <p:cNvPr id="22" name="texte-51"/>
          <p:cNvSpPr txBox="1"/>
          <p:nvPr/>
        </p:nvSpPr>
        <p:spPr>
          <a:xfrm>
            <a:off x="9418320" y="1417320"/>
            <a:ext cx="2194560" cy="274320"/>
          </a:xfrm>
          <a:prstGeom prst="rect">
            <a:avLst/>
          </a:prstGeom>
          <a:noFill/>
          <a:ln/>
        </p:spPr>
        <p:txBody>
          <a:bodyPr wrap="square" lIns="0" tIns="0" rIns="0" bIns="0" rtlCol="0" anchor="t"/>
          <a:lstStyle/>
          <a:p>
            <a:pPr algn="ctr" indent="0" marL="0">
              <a:buNone/>
            </a:pPr>
            <a:r>
              <a:rPr lang="en-US" sz="1200" dirty="0">
                <a:solidFill>
                  <a:schemeClr val="accent5"/>
                </a:solidFill>
              </a:rPr>
              <a:t>Postman, Swagger</a:t>
            </a:r>
            <a:endParaRPr lang="en-US" sz="1200" dirty="0"/>
          </a:p>
        </p:txBody>
      </p:sp>
      <p:sp>
        <p:nvSpPr>
          <p:cNvPr id="23" name="texte-52"/>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i="1" dirty="0">
                <a:solidFill>
                  <a:schemeClr val="tx2"/>
                </a:solidFill>
              </a:rPr>
              <a:t>11 conteneurs orchestrés par Docker Compose, démarrés par une seule commande : docker compose up -d --build</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Un jeu de données réaliste, volontairement imparfait</a:t>
            </a:r>
            <a:endParaRPr lang="en-US" sz="3200" dirty="0"/>
          </a:p>
        </p:txBody>
      </p:sp>
      <p:sp>
        <p:nvSpPr>
          <p:cNvPr id="3" name="texte-53"/>
          <p:cNvSpPr txBox="1"/>
          <p:nvPr/>
        </p:nvSpPr>
        <p:spPr>
          <a:xfrm>
            <a:off x="548640" y="1371600"/>
            <a:ext cx="310896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60</a:t>
            </a:r>
            <a:endParaRPr lang="en-US" sz="5400" dirty="0"/>
          </a:p>
        </p:txBody>
      </p:sp>
      <p:sp>
        <p:nvSpPr>
          <p:cNvPr id="4" name="texte-54"/>
          <p:cNvSpPr txBox="1"/>
          <p:nvPr/>
        </p:nvSpPr>
        <p:spPr>
          <a:xfrm>
            <a:off x="548640" y="2240280"/>
            <a:ext cx="3108960" cy="365760"/>
          </a:xfrm>
          <a:prstGeom prst="rect">
            <a:avLst/>
          </a:prstGeom>
          <a:noFill/>
          <a:ln/>
        </p:spPr>
        <p:txBody>
          <a:bodyPr wrap="square" lIns="0" tIns="0" rIns="0" bIns="0" rtlCol="0" anchor="t"/>
          <a:lstStyle/>
          <a:p>
            <a:pPr indent="0" marL="0">
              <a:buNone/>
            </a:pPr>
            <a:r>
              <a:rPr lang="en-US" sz="1600" dirty="0">
                <a:solidFill>
                  <a:schemeClr val="tx2"/>
                </a:solidFill>
              </a:rPr>
              <a:t>clients de référence</a:t>
            </a:r>
            <a:endParaRPr lang="en-US" sz="1600" dirty="0"/>
          </a:p>
        </p:txBody>
      </p:sp>
      <p:sp>
        <p:nvSpPr>
          <p:cNvPr id="5" name="texte-55"/>
          <p:cNvSpPr txBox="1"/>
          <p:nvPr/>
        </p:nvSpPr>
        <p:spPr>
          <a:xfrm>
            <a:off x="548640" y="2971800"/>
            <a:ext cx="310896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14</a:t>
            </a:r>
            <a:endParaRPr lang="en-US" sz="5400" dirty="0"/>
          </a:p>
        </p:txBody>
      </p:sp>
      <p:sp>
        <p:nvSpPr>
          <p:cNvPr id="6" name="texte-56"/>
          <p:cNvSpPr txBox="1"/>
          <p:nvPr/>
        </p:nvSpPr>
        <p:spPr>
          <a:xfrm>
            <a:off x="548640" y="3840480"/>
            <a:ext cx="3108960" cy="365760"/>
          </a:xfrm>
          <a:prstGeom prst="rect">
            <a:avLst/>
          </a:prstGeom>
          <a:noFill/>
          <a:ln/>
        </p:spPr>
        <p:txBody>
          <a:bodyPr wrap="square" lIns="0" tIns="0" rIns="0" bIns="0" rtlCol="0" anchor="t"/>
          <a:lstStyle/>
          <a:p>
            <a:pPr indent="0" marL="0">
              <a:buNone/>
            </a:pPr>
            <a:r>
              <a:rPr lang="en-US" sz="1600" dirty="0">
                <a:solidFill>
                  <a:schemeClr val="tx2"/>
                </a:solidFill>
              </a:rPr>
              <a:t>exports journaliers</a:t>
            </a:r>
            <a:endParaRPr lang="en-US" sz="1600" dirty="0"/>
          </a:p>
        </p:txBody>
      </p:sp>
      <p:sp>
        <p:nvSpPr>
          <p:cNvPr id="7" name="texte-57"/>
          <p:cNvSpPr txBox="1"/>
          <p:nvPr/>
        </p:nvSpPr>
        <p:spPr>
          <a:xfrm>
            <a:off x="548640" y="4572000"/>
            <a:ext cx="310896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843</a:t>
            </a:r>
            <a:endParaRPr lang="en-US" sz="5400" dirty="0"/>
          </a:p>
        </p:txBody>
      </p:sp>
      <p:sp>
        <p:nvSpPr>
          <p:cNvPr id="8" name="texte-58"/>
          <p:cNvSpPr txBox="1"/>
          <p:nvPr/>
        </p:nvSpPr>
        <p:spPr>
          <a:xfrm>
            <a:off x="548640" y="5440680"/>
            <a:ext cx="3108960" cy="365760"/>
          </a:xfrm>
          <a:prstGeom prst="rect">
            <a:avLst/>
          </a:prstGeom>
          <a:noFill/>
          <a:ln/>
        </p:spPr>
        <p:txBody>
          <a:bodyPr wrap="square" lIns="0" tIns="0" rIns="0" bIns="0" rtlCol="0" anchor="t"/>
          <a:lstStyle/>
          <a:p>
            <a:pPr indent="0" marL="0">
              <a:buNone/>
            </a:pPr>
            <a:r>
              <a:rPr lang="en-US" sz="1600" dirty="0">
                <a:solidFill>
                  <a:schemeClr val="tx2"/>
                </a:solidFill>
              </a:rPr>
              <a:t>lignes de ventes</a:t>
            </a:r>
            <a:endParaRPr lang="en-US" sz="1600" dirty="0"/>
          </a:p>
        </p:txBody>
      </p:sp>
      <p:graphicFrame>
        <p:nvGraphicFramePr>
          <p:cNvPr id="5" name="tableau-59"/>
          <p:cNvGraphicFramePr>
            <a:graphicFrameLocks noGrp="1"/>
          </p:cNvGraphicFramePr>
          <p:nvPr>
            <p:extLst>
              <p:ext uri="{D42A27DB-BD31-4B8C-83A1-F6EECF244321}">
                <p14:modId xmlns:p14="http://schemas.microsoft.com/office/powerpoint/2010/main" val="1579011935"/>
              </p:ext>
            </p:extLst>
          </p:nvPr>
        </p:nvGraphicFramePr>
        <p:xfrm>
          <a:off x="4023360" y="1417320"/>
          <a:ext cx="7589520" cy="914400"/>
        </p:xfrm>
        <a:graphic>
          <a:graphicData uri="http://schemas.openxmlformats.org/drawingml/2006/table">
            <a:tbl>
              <a:tblPr/>
              <a:tblGrid>
                <a:gridCol w="2377440"/>
                <a:gridCol w="2743200"/>
                <a:gridCol w="2468880"/>
              </a:tblGrid>
              <a:tr h="566928">
                <a:tc>
                  <a:txBody>
                    <a:bodyPr/>
                    <a:lstStyle/>
                    <a:p>
                      <a:pPr indent="0" marL="0">
                        <a:buNone/>
                      </a:pPr>
                      <a:r>
                        <a:rPr lang="en-US" sz="1400" b="1" dirty="0">
                          <a:solidFill>
                            <a:schemeClr val="bg1"/>
                          </a:solidFill>
                        </a:rPr>
                        <a:t>Anomalie injectée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Exemple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Traitement</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r>
              <a:tr h="566928">
                <a:tc>
                  <a:txBody>
                    <a:bodyPr/>
                    <a:lstStyle/>
                    <a:p>
                      <a:pPr indent="0" marL="0">
                        <a:buNone/>
                      </a:pPr>
                      <a:r>
                        <a:rPr lang="en-US" sz="1400" dirty="0">
                          <a:solidFill>
                            <a:schemeClr val="tx1"/>
                          </a:solidFill>
                        </a:rPr>
                        <a:t>Formats hétérogènes</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02/10/2026, « 17 500 »</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Normalisés</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400" dirty="0">
                          <a:solidFill>
                            <a:schemeClr val="tx1"/>
                          </a:solidFill>
                        </a:rPr>
                        <a:t>Libellés non standard</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Orange Money, Web</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Valeur de référence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400" dirty="0">
                          <a:solidFill>
                            <a:schemeClr val="tx1"/>
                          </a:solidFill>
                        </a:rPr>
                        <a:t>Ticket envoyé deux fois</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Ligne identique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DOUBLON_EXACT</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400" dirty="0">
                          <a:solidFill>
                            <a:schemeClr val="tx1"/>
                          </a:solidFill>
                        </a:rPr>
                        <a:t>Correction de vente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Même référence, date_maj récente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Dernière version retenue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400" dirty="0">
                          <a:solidFill>
                            <a:schemeClr val="tx1"/>
                          </a:solidFill>
                        </a:rPr>
                        <a:t>Client inconnu</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CLI-9999</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Rejet CLIENT_INCONNU</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400" dirty="0">
                          <a:solidFill>
                            <a:schemeClr val="tx1"/>
                          </a:solidFill>
                        </a:rPr>
                        <a:t>Valeur impossible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Quantité 0, date 2026-13-45</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Rejet avec motif</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Le DAG ventes_etl en sept tâches</a:t>
            </a:r>
            <a:endParaRPr lang="en-US" sz="3200" dirty="0"/>
          </a:p>
        </p:txBody>
      </p:sp>
      <p:sp>
        <p:nvSpPr>
          <p:cNvPr id="3" name="pastille-60"/>
          <p:cNvSpPr/>
          <p:nvPr/>
        </p:nvSpPr>
        <p:spPr>
          <a:xfrm>
            <a:off x="548640" y="1371600"/>
            <a:ext cx="457200" cy="457200"/>
          </a:xfrm>
          <a:prstGeom prst="ellipse">
            <a:avLst/>
          </a:prstGeom>
          <a:solidFill>
            <a:schemeClr val="accent1"/>
          </a:solidFill>
          <a:ln w="12700">
            <a:solidFill>
              <a:schemeClr val="accent1"/>
            </a:solidFill>
            <a:prstDash val="solid"/>
          </a:ln>
        </p:spPr>
      </p:sp>
      <p:sp>
        <p:nvSpPr>
          <p:cNvPr id="4" name="numero-61"/>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e-62"/>
          <p:cNvSpPr txBox="1"/>
          <p:nvPr/>
        </p:nvSpPr>
        <p:spPr>
          <a:xfrm>
            <a:off x="1188720" y="1325880"/>
            <a:ext cx="2834640" cy="54864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verifier_sources</a:t>
            </a:r>
            <a:endParaRPr lang="en-US" sz="1600" dirty="0"/>
          </a:p>
        </p:txBody>
      </p:sp>
      <p:sp>
        <p:nvSpPr>
          <p:cNvPr id="6" name="texte-63"/>
          <p:cNvSpPr txBox="1"/>
          <p:nvPr/>
        </p:nvSpPr>
        <p:spPr>
          <a:xfrm>
            <a:off x="4114800" y="1325880"/>
            <a:ext cx="3840480" cy="548640"/>
          </a:xfrm>
          <a:prstGeom prst="rect">
            <a:avLst/>
          </a:prstGeom>
          <a:noFill/>
          <a:ln/>
        </p:spPr>
        <p:txBody>
          <a:bodyPr wrap="square" lIns="0" tIns="0" rIns="0" bIns="0" rtlCol="0" anchor="ctr"/>
          <a:lstStyle/>
          <a:p>
            <a:pPr indent="0" marL="0">
              <a:buNone/>
            </a:pPr>
            <a:r>
              <a:rPr lang="en-US" sz="1500" dirty="0">
                <a:solidFill>
                  <a:schemeClr val="tx1"/>
                </a:solidFill>
              </a:rPr>
              <a:t>Présence des fichiers attendus</a:t>
            </a:r>
            <a:endParaRPr lang="en-US" sz="1500" dirty="0"/>
          </a:p>
        </p:txBody>
      </p:sp>
      <p:sp>
        <p:nvSpPr>
          <p:cNvPr id="7" name="pastille-64"/>
          <p:cNvSpPr/>
          <p:nvPr/>
        </p:nvSpPr>
        <p:spPr>
          <a:xfrm>
            <a:off x="548640" y="2066544"/>
            <a:ext cx="457200" cy="457200"/>
          </a:xfrm>
          <a:prstGeom prst="ellipse">
            <a:avLst/>
          </a:prstGeom>
          <a:solidFill>
            <a:schemeClr val="accent1"/>
          </a:solidFill>
          <a:ln w="12700">
            <a:solidFill>
              <a:schemeClr val="accent1"/>
            </a:solidFill>
            <a:prstDash val="solid"/>
          </a:ln>
        </p:spPr>
      </p:sp>
      <p:sp>
        <p:nvSpPr>
          <p:cNvPr id="8" name="numero-65"/>
          <p:cNvSpPr txBox="1"/>
          <p:nvPr/>
        </p:nvSpPr>
        <p:spPr>
          <a:xfrm>
            <a:off x="548640" y="206654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e-66"/>
          <p:cNvSpPr txBox="1"/>
          <p:nvPr/>
        </p:nvSpPr>
        <p:spPr>
          <a:xfrm>
            <a:off x="1188720" y="2020824"/>
            <a:ext cx="2834640" cy="54864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extraire</a:t>
            </a:r>
            <a:endParaRPr lang="en-US" sz="1600" dirty="0"/>
          </a:p>
        </p:txBody>
      </p:sp>
      <p:sp>
        <p:nvSpPr>
          <p:cNvPr id="10" name="texte-67"/>
          <p:cNvSpPr txBox="1"/>
          <p:nvPr/>
        </p:nvSpPr>
        <p:spPr>
          <a:xfrm>
            <a:off x="4114800" y="2020824"/>
            <a:ext cx="3840480" cy="548640"/>
          </a:xfrm>
          <a:prstGeom prst="rect">
            <a:avLst/>
          </a:prstGeom>
          <a:noFill/>
          <a:ln/>
        </p:spPr>
        <p:txBody>
          <a:bodyPr wrap="square" lIns="0" tIns="0" rIns="0" bIns="0" rtlCol="0" anchor="ctr"/>
          <a:lstStyle/>
          <a:p>
            <a:pPr indent="0" marL="0">
              <a:buNone/>
            </a:pPr>
            <a:r>
              <a:rPr lang="en-US" sz="1500" dirty="0">
                <a:solidFill>
                  <a:schemeClr val="tx1"/>
                </a:solidFill>
              </a:rPr>
              <a:t>Lecture, contrôle des colonnes, SHA-256</a:t>
            </a:r>
            <a:endParaRPr lang="en-US" sz="1500" dirty="0"/>
          </a:p>
        </p:txBody>
      </p:sp>
      <p:sp>
        <p:nvSpPr>
          <p:cNvPr id="11" name="pastille-68"/>
          <p:cNvSpPr/>
          <p:nvPr/>
        </p:nvSpPr>
        <p:spPr>
          <a:xfrm>
            <a:off x="548640" y="2761488"/>
            <a:ext cx="457200" cy="457200"/>
          </a:xfrm>
          <a:prstGeom prst="ellipse">
            <a:avLst/>
          </a:prstGeom>
          <a:solidFill>
            <a:schemeClr val="accent1"/>
          </a:solidFill>
          <a:ln w="12700">
            <a:solidFill>
              <a:schemeClr val="accent1"/>
            </a:solidFill>
            <a:prstDash val="solid"/>
          </a:ln>
        </p:spPr>
      </p:sp>
      <p:sp>
        <p:nvSpPr>
          <p:cNvPr id="12" name="numero-69"/>
          <p:cNvSpPr txBox="1"/>
          <p:nvPr/>
        </p:nvSpPr>
        <p:spPr>
          <a:xfrm>
            <a:off x="548640" y="276148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e-70"/>
          <p:cNvSpPr txBox="1"/>
          <p:nvPr/>
        </p:nvSpPr>
        <p:spPr>
          <a:xfrm>
            <a:off x="1188720" y="2715768"/>
            <a:ext cx="2834640" cy="54864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traiter_clients</a:t>
            </a:r>
            <a:endParaRPr lang="en-US" sz="1600" dirty="0"/>
          </a:p>
        </p:txBody>
      </p:sp>
      <p:sp>
        <p:nvSpPr>
          <p:cNvPr id="14" name="texte-71"/>
          <p:cNvSpPr txBox="1"/>
          <p:nvPr/>
        </p:nvSpPr>
        <p:spPr>
          <a:xfrm>
            <a:off x="4114800" y="2715768"/>
            <a:ext cx="3840480" cy="548640"/>
          </a:xfrm>
          <a:prstGeom prst="rect">
            <a:avLst/>
          </a:prstGeom>
          <a:noFill/>
          <a:ln/>
        </p:spPr>
        <p:txBody>
          <a:bodyPr wrap="square" lIns="0" tIns="0" rIns="0" bIns="0" rtlCol="0" anchor="ctr"/>
          <a:lstStyle/>
          <a:p>
            <a:pPr indent="0" marL="0">
              <a:buNone/>
            </a:pPr>
            <a:r>
              <a:rPr lang="en-US" sz="1500" dirty="0">
                <a:solidFill>
                  <a:schemeClr val="tx1"/>
                </a:solidFill>
              </a:rPr>
              <a:t>Normalisation et chargement des clients</a:t>
            </a:r>
            <a:endParaRPr lang="en-US" sz="1500" dirty="0"/>
          </a:p>
        </p:txBody>
      </p:sp>
      <p:sp>
        <p:nvSpPr>
          <p:cNvPr id="15" name="pastille-72"/>
          <p:cNvSpPr/>
          <p:nvPr/>
        </p:nvSpPr>
        <p:spPr>
          <a:xfrm>
            <a:off x="548640" y="3456432"/>
            <a:ext cx="457200" cy="457200"/>
          </a:xfrm>
          <a:prstGeom prst="ellipse">
            <a:avLst/>
          </a:prstGeom>
          <a:solidFill>
            <a:schemeClr val="accent1"/>
          </a:solidFill>
          <a:ln w="12700">
            <a:solidFill>
              <a:schemeClr val="accent1"/>
            </a:solidFill>
            <a:prstDash val="solid"/>
          </a:ln>
        </p:spPr>
      </p:sp>
      <p:sp>
        <p:nvSpPr>
          <p:cNvPr id="16" name="numero-73"/>
          <p:cNvSpPr txBox="1"/>
          <p:nvPr/>
        </p:nvSpPr>
        <p:spPr>
          <a:xfrm>
            <a:off x="548640" y="34564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e-74"/>
          <p:cNvSpPr txBox="1"/>
          <p:nvPr/>
        </p:nvSpPr>
        <p:spPr>
          <a:xfrm>
            <a:off x="1188720" y="3410712"/>
            <a:ext cx="2834640" cy="54864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transformer_ventes</a:t>
            </a:r>
            <a:endParaRPr lang="en-US" sz="1600" dirty="0"/>
          </a:p>
        </p:txBody>
      </p:sp>
      <p:sp>
        <p:nvSpPr>
          <p:cNvPr id="18" name="texte-75"/>
          <p:cNvSpPr txBox="1"/>
          <p:nvPr/>
        </p:nvSpPr>
        <p:spPr>
          <a:xfrm>
            <a:off x="4114800" y="3410712"/>
            <a:ext cx="3840480" cy="548640"/>
          </a:xfrm>
          <a:prstGeom prst="rect">
            <a:avLst/>
          </a:prstGeom>
          <a:noFill/>
          <a:ln/>
        </p:spPr>
        <p:txBody>
          <a:bodyPr wrap="square" lIns="0" tIns="0" rIns="0" bIns="0" rtlCol="0" anchor="ctr"/>
          <a:lstStyle/>
          <a:p>
            <a:pPr indent="0" marL="0">
              <a:buNone/>
            </a:pPr>
            <a:r>
              <a:rPr lang="en-US" sz="1500" dirty="0">
                <a:solidFill>
                  <a:schemeClr val="tx1"/>
                </a:solidFill>
              </a:rPr>
              <a:t>Contrôles, normalisation, dédoublonnage</a:t>
            </a:r>
            <a:endParaRPr lang="en-US" sz="1500" dirty="0"/>
          </a:p>
        </p:txBody>
      </p:sp>
      <p:sp>
        <p:nvSpPr>
          <p:cNvPr id="19" name="pastille-76"/>
          <p:cNvSpPr/>
          <p:nvPr/>
        </p:nvSpPr>
        <p:spPr>
          <a:xfrm>
            <a:off x="548640" y="4151376"/>
            <a:ext cx="457200" cy="457200"/>
          </a:xfrm>
          <a:prstGeom prst="ellipse">
            <a:avLst/>
          </a:prstGeom>
          <a:solidFill>
            <a:schemeClr val="accent1"/>
          </a:solidFill>
          <a:ln w="12700">
            <a:solidFill>
              <a:schemeClr val="accent1"/>
            </a:solidFill>
            <a:prstDash val="solid"/>
          </a:ln>
        </p:spPr>
      </p:sp>
      <p:sp>
        <p:nvSpPr>
          <p:cNvPr id="20" name="numero-77"/>
          <p:cNvSpPr txBox="1"/>
          <p:nvPr/>
        </p:nvSpPr>
        <p:spPr>
          <a:xfrm>
            <a:off x="548640" y="41513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e-78"/>
          <p:cNvSpPr txBox="1"/>
          <p:nvPr/>
        </p:nvSpPr>
        <p:spPr>
          <a:xfrm>
            <a:off x="1188720" y="4105656"/>
            <a:ext cx="2834640" cy="54864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charger_ventes</a:t>
            </a:r>
            <a:endParaRPr lang="en-US" sz="1600" dirty="0"/>
          </a:p>
        </p:txBody>
      </p:sp>
      <p:sp>
        <p:nvSpPr>
          <p:cNvPr id="22" name="texte-79"/>
          <p:cNvSpPr txBox="1"/>
          <p:nvPr/>
        </p:nvSpPr>
        <p:spPr>
          <a:xfrm>
            <a:off x="4114800" y="4105656"/>
            <a:ext cx="3840480" cy="548640"/>
          </a:xfrm>
          <a:prstGeom prst="rect">
            <a:avLst/>
          </a:prstGeom>
          <a:noFill/>
          <a:ln/>
        </p:spPr>
        <p:txBody>
          <a:bodyPr wrap="square" lIns="0" tIns="0" rIns="0" bIns="0" rtlCol="0" anchor="ctr"/>
          <a:lstStyle/>
          <a:p>
            <a:pPr indent="0" marL="0">
              <a:buNone/>
            </a:pPr>
            <a:r>
              <a:rPr lang="en-US" sz="1500" dirty="0">
                <a:solidFill>
                  <a:schemeClr val="tx1"/>
                </a:solidFill>
              </a:rPr>
              <a:t>Upsert idempotent, rejets historisés</a:t>
            </a:r>
            <a:endParaRPr lang="en-US" sz="1500" dirty="0"/>
          </a:p>
        </p:txBody>
      </p:sp>
      <p:sp>
        <p:nvSpPr>
          <p:cNvPr id="23" name="pastille-80"/>
          <p:cNvSpPr/>
          <p:nvPr/>
        </p:nvSpPr>
        <p:spPr>
          <a:xfrm>
            <a:off x="548640" y="4846320"/>
            <a:ext cx="457200" cy="457200"/>
          </a:xfrm>
          <a:prstGeom prst="ellipse">
            <a:avLst/>
          </a:prstGeom>
          <a:solidFill>
            <a:schemeClr val="accent1"/>
          </a:solidFill>
          <a:ln w="12700">
            <a:solidFill>
              <a:schemeClr val="accent1"/>
            </a:solidFill>
            <a:prstDash val="solid"/>
          </a:ln>
        </p:spPr>
      </p:sp>
      <p:sp>
        <p:nvSpPr>
          <p:cNvPr id="24" name="numero-81"/>
          <p:cNvSpPr txBox="1"/>
          <p:nvPr/>
        </p:nvSpPr>
        <p:spPr>
          <a:xfrm>
            <a:off x="548640" y="4846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e-82"/>
          <p:cNvSpPr txBox="1"/>
          <p:nvPr/>
        </p:nvSpPr>
        <p:spPr>
          <a:xfrm>
            <a:off x="1188720" y="4800600"/>
            <a:ext cx="2834640" cy="54864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controler_chargement</a:t>
            </a:r>
            <a:endParaRPr lang="en-US" sz="1600" dirty="0"/>
          </a:p>
        </p:txBody>
      </p:sp>
      <p:sp>
        <p:nvSpPr>
          <p:cNvPr id="26" name="texte-83"/>
          <p:cNvSpPr txBox="1"/>
          <p:nvPr/>
        </p:nvSpPr>
        <p:spPr>
          <a:xfrm>
            <a:off x="4114800" y="4800600"/>
            <a:ext cx="3840480" cy="548640"/>
          </a:xfrm>
          <a:prstGeom prst="rect">
            <a:avLst/>
          </a:prstGeom>
          <a:noFill/>
          <a:ln/>
        </p:spPr>
        <p:txBody>
          <a:bodyPr wrap="square" lIns="0" tIns="0" rIns="0" bIns="0" rtlCol="0" anchor="ctr"/>
          <a:lstStyle/>
          <a:p>
            <a:pPr indent="0" marL="0">
              <a:buNone/>
            </a:pPr>
            <a:r>
              <a:rPr lang="en-US" sz="1500" dirty="0">
                <a:solidFill>
                  <a:schemeClr val="tx1"/>
                </a:solidFill>
              </a:rPr>
              <a:t>4 contrôles de cohérence en base</a:t>
            </a:r>
            <a:endParaRPr lang="en-US" sz="1500" dirty="0"/>
          </a:p>
        </p:txBody>
      </p:sp>
      <p:sp>
        <p:nvSpPr>
          <p:cNvPr id="27" name="pastille-84"/>
          <p:cNvSpPr/>
          <p:nvPr/>
        </p:nvSpPr>
        <p:spPr>
          <a:xfrm>
            <a:off x="548640" y="5541264"/>
            <a:ext cx="457200" cy="457200"/>
          </a:xfrm>
          <a:prstGeom prst="ellipse">
            <a:avLst/>
          </a:prstGeom>
          <a:solidFill>
            <a:schemeClr val="accent1"/>
          </a:solidFill>
          <a:ln w="12700">
            <a:solidFill>
              <a:schemeClr val="accent1"/>
            </a:solidFill>
            <a:prstDash val="solid"/>
          </a:ln>
        </p:spPr>
      </p:sp>
      <p:sp>
        <p:nvSpPr>
          <p:cNvPr id="28" name="numero-85"/>
          <p:cNvSpPr txBox="1"/>
          <p:nvPr/>
        </p:nvSpPr>
        <p:spPr>
          <a:xfrm>
            <a:off x="548640" y="554126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9" name="texte-86"/>
          <p:cNvSpPr txBox="1"/>
          <p:nvPr/>
        </p:nvSpPr>
        <p:spPr>
          <a:xfrm>
            <a:off x="1188720" y="5495544"/>
            <a:ext cx="2834640" cy="54864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publier_rapport</a:t>
            </a:r>
            <a:endParaRPr lang="en-US" sz="1600" dirty="0"/>
          </a:p>
        </p:txBody>
      </p:sp>
      <p:sp>
        <p:nvSpPr>
          <p:cNvPr id="30" name="texte-87"/>
          <p:cNvSpPr txBox="1"/>
          <p:nvPr/>
        </p:nvSpPr>
        <p:spPr>
          <a:xfrm>
            <a:off x="4114800" y="5495544"/>
            <a:ext cx="3840480" cy="548640"/>
          </a:xfrm>
          <a:prstGeom prst="rect">
            <a:avLst/>
          </a:prstGeom>
          <a:noFill/>
          <a:ln/>
        </p:spPr>
        <p:txBody>
          <a:bodyPr wrap="square" lIns="0" tIns="0" rIns="0" bIns="0" rtlCol="0" anchor="ctr"/>
          <a:lstStyle/>
          <a:p>
            <a:pPr indent="0" marL="0">
              <a:buNone/>
            </a:pPr>
            <a:r>
              <a:rPr lang="en-US" sz="1500" dirty="0">
                <a:solidFill>
                  <a:schemeClr val="tx1"/>
                </a:solidFill>
              </a:rPr>
              <a:t>Bilan dans etl_executions et ELK</a:t>
            </a:r>
            <a:endParaRPr lang="en-US" sz="1500" dirty="0"/>
          </a:p>
        </p:txBody>
      </p:sp>
      <p:sp>
        <p:nvSpPr>
          <p:cNvPr id="31" name="carte-88"/>
          <p:cNvSpPr/>
          <p:nvPr/>
        </p:nvSpPr>
        <p:spPr>
          <a:xfrm>
            <a:off x="8321040" y="1325880"/>
            <a:ext cx="3291840" cy="4754880"/>
          </a:xfrm>
          <a:prstGeom prst="roundRect">
            <a:avLst>
              <a:gd name="adj" fmla="val 2222"/>
            </a:avLst>
          </a:prstGeom>
          <a:solidFill>
            <a:schemeClr val="bg2"/>
          </a:solidFill>
          <a:ln w="12700">
            <a:solidFill>
              <a:schemeClr val="bg2"/>
            </a:solidFill>
            <a:prstDash val="solid"/>
          </a:ln>
        </p:spPr>
      </p:sp>
      <p:sp>
        <p:nvSpPr>
          <p:cNvPr id="32" name="texte-89"/>
          <p:cNvSpPr txBox="1"/>
          <p:nvPr/>
        </p:nvSpPr>
        <p:spPr>
          <a:xfrm>
            <a:off x="8595360" y="1554480"/>
            <a:ext cx="274320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Paramètres</a:t>
            </a:r>
            <a:endParaRPr lang="en-US" sz="2000" dirty="0"/>
          </a:p>
        </p:txBody>
      </p:sp>
      <p:sp>
        <p:nvSpPr>
          <p:cNvPr id="33" name="texte-90"/>
          <p:cNvSpPr txBox="1"/>
          <p:nvPr/>
        </p:nvSpPr>
        <p:spPr>
          <a:xfrm>
            <a:off x="8595360" y="2103120"/>
            <a:ext cx="27889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Tous les jours à 02:00, heure de Ouagadougou</a:t>
            </a:r>
            <a:endParaRPr lang="en-US" sz="1500" dirty="0"/>
          </a:p>
          <a:p>
            <a:pPr marL="342900" indent="-342900">
              <a:spcAft>
                <a:spcPts val="800"/>
              </a:spcAft>
              <a:buSzPct val="100000"/>
              <a:buChar char="•"/>
            </a:pPr>
            <a:r>
              <a:rPr lang="en-US" sz="1500" dirty="0">
                <a:solidFill>
                  <a:schemeClr val="tx1"/>
                </a:solidFill>
              </a:rPr>
              <a:t>Une seule exécution à la fois (max_active_runs = 1)</a:t>
            </a:r>
            <a:endParaRPr lang="en-US" sz="1500" dirty="0"/>
          </a:p>
          <a:p>
            <a:pPr marL="342900" indent="-342900">
              <a:spcAft>
                <a:spcPts val="800"/>
              </a:spcAft>
              <a:buSzPct val="100000"/>
              <a:buChar char="•"/>
            </a:pPr>
            <a:r>
              <a:rPr lang="en-US" sz="1500" dirty="0">
                <a:solidFill>
                  <a:schemeClr val="tx1"/>
                </a:solidFill>
              </a:rPr>
              <a:t>2 nouvelles tentatives à 30 s</a:t>
            </a:r>
            <a:endParaRPr lang="en-US" sz="1500" dirty="0"/>
          </a:p>
          <a:p>
            <a:pPr marL="342900" indent="-342900">
              <a:spcAft>
                <a:spcPts val="800"/>
              </a:spcAft>
              <a:buSzPct val="100000"/>
              <a:buChar char="•"/>
            </a:pPr>
            <a:r>
              <a:rPr lang="en-US" sz="1500" dirty="0">
                <a:solidFill>
                  <a:schemeClr val="tx1"/>
                </a:solidFill>
              </a:rPr>
              <a:t>Rapport publié même en cas d'échec (all_done)</a:t>
            </a:r>
            <a:endParaRPr lang="en-US" sz="1500" dirty="0"/>
          </a:p>
          <a:p>
            <a:pPr marL="342900" indent="-342900">
              <a:spcAft>
                <a:spcPts val="800"/>
              </a:spcAft>
              <a:buSzPct val="100000"/>
              <a:buChar char="•"/>
            </a:pPr>
            <a:r>
              <a:rPr lang="en-US" sz="1500" dirty="0">
                <a:solidFill>
                  <a:schemeClr val="tx1"/>
                </a:solidFill>
              </a:rPr>
              <a:t>Accès MongoDB par connexion Airflow, sans identifiants dans le code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Chaque ligne rejetée est tracée avec son motif</a:t>
            </a:r>
            <a:endParaRPr lang="en-US" sz="3200" dirty="0"/>
          </a:p>
        </p:txBody>
      </p:sp>
      <p:graphicFrame>
        <p:nvGraphicFramePr>
          <p:cNvPr id="3" name="Chart 0" descr=""/>
          <p:cNvGraphicFramePr/>
          <p:nvPr/>
        </p:nvGraphicFramePr>
        <p:xfrm>
          <a:off x="548640" y="1325880"/>
          <a:ext cx="6309360" cy="4754880"/>
        </p:xfrm>
        <a:graphic xmlns:a="http://schemas.openxmlformats.org/drawingml/2006/main">
          <a:graphicData uri="http://schemas.openxmlformats.org/drawingml/2006/chart">
            <c:chart xmlns:c="http://schemas.openxmlformats.org/drawingml/2006/chart" r:id="rId1"/>
          </a:graphicData>
        </a:graphic>
      </p:graphicFrame>
      <p:sp>
        <p:nvSpPr>
          <p:cNvPr id="4" name="carte-91"/>
          <p:cNvSpPr/>
          <p:nvPr/>
        </p:nvSpPr>
        <p:spPr>
          <a:xfrm>
            <a:off x="7315200" y="1325880"/>
            <a:ext cx="4297680" cy="2011680"/>
          </a:xfrm>
          <a:prstGeom prst="roundRect">
            <a:avLst>
              <a:gd name="adj" fmla="val 3636"/>
            </a:avLst>
          </a:prstGeom>
          <a:solidFill>
            <a:schemeClr val="bg2"/>
          </a:solidFill>
          <a:ln w="12700">
            <a:solidFill>
              <a:schemeClr val="bg2"/>
            </a:solidFill>
            <a:prstDash val="solid"/>
          </a:ln>
        </p:spPr>
      </p:sp>
      <p:sp>
        <p:nvSpPr>
          <p:cNvPr id="5" name="texte-92"/>
          <p:cNvSpPr txBox="1"/>
          <p:nvPr/>
        </p:nvSpPr>
        <p:spPr>
          <a:xfrm>
            <a:off x="7589520" y="1463040"/>
            <a:ext cx="1463040" cy="91440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38</a:t>
            </a:r>
            <a:endParaRPr lang="en-US" sz="5400" dirty="0"/>
          </a:p>
        </p:txBody>
      </p:sp>
      <p:sp>
        <p:nvSpPr>
          <p:cNvPr id="6" name="texte-93"/>
          <p:cNvSpPr txBox="1"/>
          <p:nvPr/>
        </p:nvSpPr>
        <p:spPr>
          <a:xfrm>
            <a:off x="9052560" y="1600200"/>
            <a:ext cx="2377440" cy="1097280"/>
          </a:xfrm>
          <a:prstGeom prst="rect">
            <a:avLst/>
          </a:prstGeom>
          <a:noFill/>
          <a:ln/>
        </p:spPr>
        <p:txBody>
          <a:bodyPr wrap="square" lIns="0" tIns="0" rIns="0" bIns="0" rtlCol="0" anchor="ctr"/>
          <a:lstStyle/>
          <a:p>
            <a:pPr indent="0" marL="0">
              <a:buNone/>
            </a:pPr>
            <a:r>
              <a:rPr lang="en-US" sz="1500" dirty="0">
                <a:solidFill>
                  <a:schemeClr val="tx1"/>
                </a:solidFill>
              </a:rPr>
              <a:t>lignes rejetées sur 843, toutes conservées dans ventes_rejets</a:t>
            </a:r>
            <a:endParaRPr lang="en-US" sz="1500" dirty="0"/>
          </a:p>
        </p:txBody>
      </p:sp>
      <p:sp>
        <p:nvSpPr>
          <p:cNvPr id="7" name="texte-94"/>
          <p:cNvSpPr txBox="1"/>
          <p:nvPr/>
        </p:nvSpPr>
        <p:spPr>
          <a:xfrm>
            <a:off x="7589520" y="2606040"/>
            <a:ext cx="3840480" cy="548640"/>
          </a:xfrm>
          <a:prstGeom prst="rect">
            <a:avLst/>
          </a:prstGeom>
          <a:noFill/>
          <a:ln/>
        </p:spPr>
        <p:txBody>
          <a:bodyPr wrap="square" lIns="0" tIns="0" rIns="0" bIns="0" rtlCol="0" anchor="t"/>
          <a:lstStyle/>
          <a:p>
            <a:pPr indent="0" marL="0">
              <a:buNone/>
            </a:pPr>
            <a:r>
              <a:rPr lang="en-US" sz="1400" i="1" dirty="0">
                <a:solidFill>
                  <a:schemeClr val="accent5"/>
                </a:solidFill>
              </a:rPr>
              <a:t>fichier, numéro de ligne, motifs cumulés, données brutes</a:t>
            </a:r>
            <a:endParaRPr lang="en-US" sz="1400" dirty="0"/>
          </a:p>
        </p:txBody>
      </p:sp>
      <p:sp>
        <p:nvSpPr>
          <p:cNvPr id="8" name="texte-95"/>
          <p:cNvSpPr txBox="1"/>
          <p:nvPr/>
        </p:nvSpPr>
        <p:spPr>
          <a:xfrm>
            <a:off x="7315200" y="3657600"/>
            <a:ext cx="429768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Tous les motifs d'une ligne sont cumulés : une seule correction suffit</a:t>
            </a:r>
            <a:endParaRPr lang="en-US" sz="1500" dirty="0"/>
          </a:p>
          <a:p>
            <a:pPr marL="342900" indent="-342900">
              <a:spcAft>
                <a:spcPts val="1000"/>
              </a:spcAft>
              <a:buSzPct val="100000"/>
              <a:buChar char="•"/>
            </a:pPr>
            <a:r>
              <a:rPr lang="en-US" sz="1500" dirty="0">
                <a:solidFill>
                  <a:schemeClr val="tx1"/>
                </a:solidFill>
              </a:rPr>
              <a:t>Montants recalculés, jamais repris du fichier</a:t>
            </a:r>
            <a:endParaRPr lang="en-US" sz="1500" dirty="0"/>
          </a:p>
          <a:p>
            <a:pPr marL="342900" indent="-342900">
              <a:spcAft>
                <a:spcPts val="1000"/>
              </a:spcAft>
              <a:buSzPct val="100000"/>
              <a:buChar char="•"/>
            </a:pPr>
            <a:r>
              <a:rPr lang="en-US" sz="1500" dirty="0">
                <a:solidFill>
                  <a:schemeClr val="tx1"/>
                </a:solidFill>
              </a:rPr>
              <a:t>Rejets consultables dans l'API (/api/v1/etl/rejets)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Doublons : une version retenue, les autres historisées</a:t>
            </a:r>
            <a:endParaRPr lang="en-US" sz="3200" dirty="0"/>
          </a:p>
        </p:txBody>
      </p:sp>
      <p:sp>
        <p:nvSpPr>
          <p:cNvPr id="3" name="carte-96"/>
          <p:cNvSpPr/>
          <p:nvPr/>
        </p:nvSpPr>
        <p:spPr>
          <a:xfrm>
            <a:off x="548640" y="1371600"/>
            <a:ext cx="3520440" cy="1691640"/>
          </a:xfrm>
          <a:prstGeom prst="roundRect">
            <a:avLst>
              <a:gd name="adj" fmla="val 4324"/>
            </a:avLst>
          </a:prstGeom>
          <a:solidFill>
            <a:schemeClr val="bg2"/>
          </a:solidFill>
          <a:ln w="12700">
            <a:solidFill>
              <a:schemeClr val="bg2"/>
            </a:solidFill>
            <a:prstDash val="solid"/>
          </a:ln>
        </p:spPr>
      </p:sp>
      <p:sp>
        <p:nvSpPr>
          <p:cNvPr id="4" name="pastille-97"/>
          <p:cNvSpPr/>
          <p:nvPr/>
        </p:nvSpPr>
        <p:spPr>
          <a:xfrm>
            <a:off x="822960" y="1600200"/>
            <a:ext cx="457200" cy="457200"/>
          </a:xfrm>
          <a:prstGeom prst="ellipse">
            <a:avLst/>
          </a:prstGeom>
          <a:solidFill>
            <a:schemeClr val="accent1"/>
          </a:solidFill>
          <a:ln w="12700">
            <a:solidFill>
              <a:schemeClr val="accent1"/>
            </a:solidFill>
            <a:prstDash val="solid"/>
          </a:ln>
        </p:spPr>
      </p:sp>
      <p:sp>
        <p:nvSpPr>
          <p:cNvPr id="5" name="numero-98"/>
          <p:cNvSpPr txBox="1"/>
          <p:nvPr/>
        </p:nvSpPr>
        <p:spPr>
          <a:xfrm>
            <a:off x="822960" y="1600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e-99"/>
          <p:cNvSpPr txBox="1"/>
          <p:nvPr/>
        </p:nvSpPr>
        <p:spPr>
          <a:xfrm>
            <a:off x="1463040" y="1600200"/>
            <a:ext cx="2377440" cy="457200"/>
          </a:xfrm>
          <a:prstGeom prst="rect">
            <a:avLst/>
          </a:prstGeom>
          <a:noFill/>
          <a:ln/>
        </p:spPr>
        <p:txBody>
          <a:bodyPr wrap="square" lIns="0" tIns="0" rIns="0" bIns="0" rtlCol="0" anchor="ctr"/>
          <a:lstStyle/>
          <a:p>
            <a:pPr indent="0" marL="0">
              <a:buNone/>
            </a:pPr>
            <a:r>
              <a:rPr lang="en-US" sz="1800" b="1" dirty="0">
                <a:solidFill>
                  <a:schemeClr val="tx2"/>
                </a:solidFill>
              </a:rPr>
              <a:t>Regrouper</a:t>
            </a:r>
            <a:endParaRPr lang="en-US" sz="1800" dirty="0"/>
          </a:p>
        </p:txBody>
      </p:sp>
      <p:sp>
        <p:nvSpPr>
          <p:cNvPr id="7" name="texte-100"/>
          <p:cNvSpPr txBox="1"/>
          <p:nvPr/>
        </p:nvSpPr>
        <p:spPr>
          <a:xfrm>
            <a:off x="822960" y="2194560"/>
            <a:ext cx="2971800" cy="777240"/>
          </a:xfrm>
          <a:prstGeom prst="rect">
            <a:avLst/>
          </a:prstGeom>
          <a:noFill/>
          <a:ln/>
        </p:spPr>
        <p:txBody>
          <a:bodyPr wrap="square" lIns="0" tIns="0" rIns="0" bIns="0" rtlCol="0" anchor="t"/>
          <a:lstStyle/>
          <a:p>
            <a:pPr indent="0" marL="0">
              <a:buNone/>
            </a:pPr>
            <a:r>
              <a:rPr lang="en-US" sz="1400" dirty="0">
                <a:solidFill>
                  <a:schemeClr val="tx1"/>
                </a:solidFill>
              </a:rPr>
              <a:t>Lignes valides de tous les fichiers regroupées par référence</a:t>
            </a:r>
            <a:endParaRPr lang="en-US" sz="1400" dirty="0"/>
          </a:p>
        </p:txBody>
      </p:sp>
      <p:sp>
        <p:nvSpPr>
          <p:cNvPr id="8" name="fleche-101"/>
          <p:cNvSpPr/>
          <p:nvPr/>
        </p:nvSpPr>
        <p:spPr>
          <a:xfrm>
            <a:off x="4096512" y="2212848"/>
            <a:ext cx="210312" cy="0"/>
          </a:xfrm>
          <a:prstGeom prst="line">
            <a:avLst/>
          </a:prstGeom>
          <a:noFill/>
          <a:ln w="25400">
            <a:solidFill>
              <a:srgbClr val="6B7C82"/>
            </a:solidFill>
            <a:prstDash val="solid"/>
            <a:tailEnd type="triangle"/>
          </a:ln>
        </p:spPr>
      </p:sp>
      <p:sp>
        <p:nvSpPr>
          <p:cNvPr id="9" name="carte-102"/>
          <p:cNvSpPr/>
          <p:nvPr/>
        </p:nvSpPr>
        <p:spPr>
          <a:xfrm>
            <a:off x="4334256" y="1371600"/>
            <a:ext cx="3520440" cy="1691640"/>
          </a:xfrm>
          <a:prstGeom prst="roundRect">
            <a:avLst>
              <a:gd name="adj" fmla="val 4324"/>
            </a:avLst>
          </a:prstGeom>
          <a:solidFill>
            <a:schemeClr val="bg2"/>
          </a:solidFill>
          <a:ln w="12700">
            <a:solidFill>
              <a:schemeClr val="bg2"/>
            </a:solidFill>
            <a:prstDash val="solid"/>
          </a:ln>
        </p:spPr>
      </p:sp>
      <p:sp>
        <p:nvSpPr>
          <p:cNvPr id="10" name="pastille-103"/>
          <p:cNvSpPr/>
          <p:nvPr/>
        </p:nvSpPr>
        <p:spPr>
          <a:xfrm>
            <a:off x="4608576" y="1600200"/>
            <a:ext cx="457200" cy="457200"/>
          </a:xfrm>
          <a:prstGeom prst="ellipse">
            <a:avLst/>
          </a:prstGeom>
          <a:solidFill>
            <a:schemeClr val="accent1"/>
          </a:solidFill>
          <a:ln w="12700">
            <a:solidFill>
              <a:schemeClr val="accent1"/>
            </a:solidFill>
            <a:prstDash val="solid"/>
          </a:ln>
        </p:spPr>
      </p:sp>
      <p:sp>
        <p:nvSpPr>
          <p:cNvPr id="11" name="numero-104"/>
          <p:cNvSpPr txBox="1"/>
          <p:nvPr/>
        </p:nvSpPr>
        <p:spPr>
          <a:xfrm>
            <a:off x="4608576" y="1600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e-105"/>
          <p:cNvSpPr txBox="1"/>
          <p:nvPr/>
        </p:nvSpPr>
        <p:spPr>
          <a:xfrm>
            <a:off x="5248656" y="1600200"/>
            <a:ext cx="2377440" cy="457200"/>
          </a:xfrm>
          <a:prstGeom prst="rect">
            <a:avLst/>
          </a:prstGeom>
          <a:noFill/>
          <a:ln/>
        </p:spPr>
        <p:txBody>
          <a:bodyPr wrap="square" lIns="0" tIns="0" rIns="0" bIns="0" rtlCol="0" anchor="ctr"/>
          <a:lstStyle/>
          <a:p>
            <a:pPr indent="0" marL="0">
              <a:buNone/>
            </a:pPr>
            <a:r>
              <a:rPr lang="en-US" sz="1800" b="1" dirty="0">
                <a:solidFill>
                  <a:schemeClr val="tx2"/>
                </a:solidFill>
              </a:rPr>
              <a:t>Choisir</a:t>
            </a:r>
            <a:endParaRPr lang="en-US" sz="1800" dirty="0"/>
          </a:p>
        </p:txBody>
      </p:sp>
      <p:sp>
        <p:nvSpPr>
          <p:cNvPr id="13" name="texte-106"/>
          <p:cNvSpPr txBox="1"/>
          <p:nvPr/>
        </p:nvSpPr>
        <p:spPr>
          <a:xfrm>
            <a:off x="4608576" y="2194560"/>
            <a:ext cx="2971800" cy="777240"/>
          </a:xfrm>
          <a:prstGeom prst="rect">
            <a:avLst/>
          </a:prstGeom>
          <a:noFill/>
          <a:ln/>
        </p:spPr>
        <p:txBody>
          <a:bodyPr wrap="square" lIns="0" tIns="0" rIns="0" bIns="0" rtlCol="0" anchor="t"/>
          <a:lstStyle/>
          <a:p>
            <a:pPr indent="0" marL="0">
              <a:buNone/>
            </a:pPr>
            <a:r>
              <a:rPr lang="en-US" sz="1400" dirty="0">
                <a:solidFill>
                  <a:schemeClr val="tx1"/>
                </a:solidFill>
              </a:rPr>
              <a:t>Version retenue : date_maj la plus récente, puis fichier le plus récent</a:t>
            </a:r>
            <a:endParaRPr lang="en-US" sz="1400" dirty="0"/>
          </a:p>
        </p:txBody>
      </p:sp>
      <p:sp>
        <p:nvSpPr>
          <p:cNvPr id="14" name="fleche-107"/>
          <p:cNvSpPr/>
          <p:nvPr/>
        </p:nvSpPr>
        <p:spPr>
          <a:xfrm>
            <a:off x="7882128" y="2212848"/>
            <a:ext cx="210312" cy="0"/>
          </a:xfrm>
          <a:prstGeom prst="line">
            <a:avLst/>
          </a:prstGeom>
          <a:noFill/>
          <a:ln w="25400">
            <a:solidFill>
              <a:srgbClr val="6B7C82"/>
            </a:solidFill>
            <a:prstDash val="solid"/>
            <a:tailEnd type="triangle"/>
          </a:ln>
        </p:spPr>
      </p:sp>
      <p:sp>
        <p:nvSpPr>
          <p:cNvPr id="15" name="carte-108"/>
          <p:cNvSpPr/>
          <p:nvPr/>
        </p:nvSpPr>
        <p:spPr>
          <a:xfrm>
            <a:off x="8119872" y="1371600"/>
            <a:ext cx="3520440" cy="1691640"/>
          </a:xfrm>
          <a:prstGeom prst="roundRect">
            <a:avLst>
              <a:gd name="adj" fmla="val 4324"/>
            </a:avLst>
          </a:prstGeom>
          <a:solidFill>
            <a:schemeClr val="bg2"/>
          </a:solidFill>
          <a:ln w="12700">
            <a:solidFill>
              <a:schemeClr val="bg2"/>
            </a:solidFill>
            <a:prstDash val="solid"/>
          </a:ln>
        </p:spPr>
      </p:sp>
      <p:sp>
        <p:nvSpPr>
          <p:cNvPr id="16" name="pastille-109"/>
          <p:cNvSpPr/>
          <p:nvPr/>
        </p:nvSpPr>
        <p:spPr>
          <a:xfrm>
            <a:off x="8394192" y="1600200"/>
            <a:ext cx="457200" cy="457200"/>
          </a:xfrm>
          <a:prstGeom prst="ellipse">
            <a:avLst/>
          </a:prstGeom>
          <a:solidFill>
            <a:schemeClr val="accent1"/>
          </a:solidFill>
          <a:ln w="12700">
            <a:solidFill>
              <a:schemeClr val="accent1"/>
            </a:solidFill>
            <a:prstDash val="solid"/>
          </a:ln>
        </p:spPr>
      </p:sp>
      <p:sp>
        <p:nvSpPr>
          <p:cNvPr id="17" name="numero-110"/>
          <p:cNvSpPr txBox="1"/>
          <p:nvPr/>
        </p:nvSpPr>
        <p:spPr>
          <a:xfrm>
            <a:off x="8394192" y="1600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e-111"/>
          <p:cNvSpPr txBox="1"/>
          <p:nvPr/>
        </p:nvSpPr>
        <p:spPr>
          <a:xfrm>
            <a:off x="9034272" y="1600200"/>
            <a:ext cx="2377440" cy="457200"/>
          </a:xfrm>
          <a:prstGeom prst="rect">
            <a:avLst/>
          </a:prstGeom>
          <a:noFill/>
          <a:ln/>
        </p:spPr>
        <p:txBody>
          <a:bodyPr wrap="square" lIns="0" tIns="0" rIns="0" bIns="0" rtlCol="0" anchor="ctr"/>
          <a:lstStyle/>
          <a:p>
            <a:pPr indent="0" marL="0">
              <a:buNone/>
            </a:pPr>
            <a:r>
              <a:rPr lang="en-US" sz="1800" b="1" dirty="0">
                <a:solidFill>
                  <a:schemeClr val="tx2"/>
                </a:solidFill>
              </a:rPr>
              <a:t>Classer</a:t>
            </a:r>
            <a:endParaRPr lang="en-US" sz="1800" dirty="0"/>
          </a:p>
        </p:txBody>
      </p:sp>
      <p:sp>
        <p:nvSpPr>
          <p:cNvPr id="19" name="texte-112"/>
          <p:cNvSpPr txBox="1"/>
          <p:nvPr/>
        </p:nvSpPr>
        <p:spPr>
          <a:xfrm>
            <a:off x="8394192" y="2194560"/>
            <a:ext cx="2971800" cy="777240"/>
          </a:xfrm>
          <a:prstGeom prst="rect">
            <a:avLst/>
          </a:prstGeom>
          <a:noFill/>
          <a:ln/>
        </p:spPr>
        <p:txBody>
          <a:bodyPr wrap="square" lIns="0" tIns="0" rIns="0" bIns="0" rtlCol="0" anchor="t"/>
          <a:lstStyle/>
          <a:p>
            <a:pPr indent="0" marL="0">
              <a:buNone/>
            </a:pPr>
            <a:r>
              <a:rPr lang="en-US" sz="1400" dirty="0">
                <a:solidFill>
                  <a:schemeClr val="tx1"/>
                </a:solidFill>
              </a:rPr>
              <a:t>Chaque autre version est comparée à la version retenue</a:t>
            </a:r>
            <a:endParaRPr lang="en-US" sz="1400" dirty="0"/>
          </a:p>
        </p:txBody>
      </p:sp>
      <p:sp>
        <p:nvSpPr>
          <p:cNvPr id="20" name="carte-113"/>
          <p:cNvSpPr/>
          <p:nvPr/>
        </p:nvSpPr>
        <p:spPr>
          <a:xfrm>
            <a:off x="548640" y="3429000"/>
            <a:ext cx="5394960" cy="1645920"/>
          </a:xfrm>
          <a:prstGeom prst="roundRect">
            <a:avLst>
              <a:gd name="adj" fmla="val 4444"/>
            </a:avLst>
          </a:prstGeom>
          <a:solidFill>
            <a:schemeClr val="bg2"/>
          </a:solidFill>
          <a:ln w="12700">
            <a:solidFill>
              <a:schemeClr val="bg2"/>
            </a:solidFill>
            <a:prstDash val="solid"/>
          </a:ln>
        </p:spPr>
      </p:sp>
      <p:sp>
        <p:nvSpPr>
          <p:cNvPr id="21" name="texte-114"/>
          <p:cNvSpPr txBox="1"/>
          <p:nvPr/>
        </p:nvSpPr>
        <p:spPr>
          <a:xfrm>
            <a:off x="822960" y="3611880"/>
            <a:ext cx="4846320" cy="45720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DOUBLON_EXACT</a:t>
            </a:r>
            <a:endParaRPr lang="en-US" sz="2000" dirty="0"/>
          </a:p>
        </p:txBody>
      </p:sp>
      <p:sp>
        <p:nvSpPr>
          <p:cNvPr id="22" name="texte-115"/>
          <p:cNvSpPr txBox="1"/>
          <p:nvPr/>
        </p:nvSpPr>
        <p:spPr>
          <a:xfrm>
            <a:off x="822960" y="4160520"/>
            <a:ext cx="4846320" cy="822960"/>
          </a:xfrm>
          <a:prstGeom prst="rect">
            <a:avLst/>
          </a:prstGeom>
          <a:noFill/>
          <a:ln/>
        </p:spPr>
        <p:txBody>
          <a:bodyPr wrap="square" lIns="0" tIns="0" rIns="0" bIns="0" rtlCol="0" anchor="t"/>
          <a:lstStyle/>
          <a:p>
            <a:pPr indent="0" marL="0">
              <a:buNone/>
            </a:pPr>
            <a:r>
              <a:rPr lang="en-US" sz="1500" dirty="0">
                <a:solidFill>
                  <a:schemeClr val="tx1"/>
                </a:solidFill>
              </a:rPr>
              <a:t>Contenu identique à la version retenue : ticket renvoyé, exports qui se chevauchent</a:t>
            </a:r>
            <a:endParaRPr lang="en-US" sz="1500" dirty="0"/>
          </a:p>
        </p:txBody>
      </p:sp>
      <p:sp>
        <p:nvSpPr>
          <p:cNvPr id="23" name="carte-116"/>
          <p:cNvSpPr/>
          <p:nvPr/>
        </p:nvSpPr>
        <p:spPr>
          <a:xfrm>
            <a:off x="6217920" y="3429000"/>
            <a:ext cx="5394960" cy="1645920"/>
          </a:xfrm>
          <a:prstGeom prst="roundRect">
            <a:avLst>
              <a:gd name="adj" fmla="val 4444"/>
            </a:avLst>
          </a:prstGeom>
          <a:solidFill>
            <a:schemeClr val="bg2"/>
          </a:solidFill>
          <a:ln w="12700">
            <a:solidFill>
              <a:schemeClr val="bg2"/>
            </a:solidFill>
            <a:prstDash val="solid"/>
          </a:ln>
        </p:spPr>
      </p:sp>
      <p:sp>
        <p:nvSpPr>
          <p:cNvPr id="24" name="texte-117"/>
          <p:cNvSpPr txBox="1"/>
          <p:nvPr/>
        </p:nvSpPr>
        <p:spPr>
          <a:xfrm>
            <a:off x="6492240" y="3611880"/>
            <a:ext cx="4846320" cy="457200"/>
          </a:xfrm>
          <a:prstGeom prst="rect">
            <a:avLst/>
          </a:prstGeom>
          <a:noFill/>
          <a:ln/>
        </p:spPr>
        <p:txBody>
          <a:bodyPr wrap="square" lIns="0" tIns="0" rIns="0" bIns="0" rtlCol="0" anchor="t"/>
          <a:lstStyle/>
          <a:p>
            <a:pPr indent="0" marL="0">
              <a:buNone/>
            </a:pPr>
            <a:r>
              <a:rPr lang="en-US" sz="2000" b="1" dirty="0">
                <a:solidFill>
                  <a:schemeClr val="accent2"/>
                </a:solidFill>
                <a:latin typeface="Courier New" pitchFamily="34" charset="0"/>
                <a:ea typeface="Courier New" pitchFamily="34" charset="-122"/>
                <a:cs typeface="Courier New" pitchFamily="34" charset="-120"/>
              </a:rPr>
              <a:t>VERSION_OBSOLETE</a:t>
            </a:r>
            <a:endParaRPr lang="en-US" sz="2000" dirty="0"/>
          </a:p>
        </p:txBody>
      </p:sp>
      <p:sp>
        <p:nvSpPr>
          <p:cNvPr id="25" name="texte-118"/>
          <p:cNvSpPr txBox="1"/>
          <p:nvPr/>
        </p:nvSpPr>
        <p:spPr>
          <a:xfrm>
            <a:off x="6492240" y="4160520"/>
            <a:ext cx="4846320" cy="822960"/>
          </a:xfrm>
          <a:prstGeom prst="rect">
            <a:avLst/>
          </a:prstGeom>
          <a:noFill/>
          <a:ln/>
        </p:spPr>
        <p:txBody>
          <a:bodyPr wrap="square" lIns="0" tIns="0" rIns="0" bIns="0" rtlCol="0" anchor="t"/>
          <a:lstStyle/>
          <a:p>
            <a:pPr indent="0" marL="0">
              <a:buNone/>
            </a:pPr>
            <a:r>
              <a:rPr lang="en-US" sz="1500" dirty="0">
                <a:solidFill>
                  <a:schemeClr val="tx1"/>
                </a:solidFill>
              </a:rPr>
              <a:t>Contenu différent et plus ancien : la vente a été corrigée par la caisse</a:t>
            </a:r>
            <a:endParaRPr lang="en-US" sz="1500" dirty="0"/>
          </a:p>
        </p:txBody>
      </p:sp>
      <p:sp>
        <p:nvSpPr>
          <p:cNvPr id="26" name="texte-119"/>
          <p:cNvSpPr txBox="1"/>
          <p:nvPr/>
        </p:nvSpPr>
        <p:spPr>
          <a:xfrm>
            <a:off x="548640" y="5394960"/>
            <a:ext cx="11064240" cy="640080"/>
          </a:xfrm>
          <a:prstGeom prst="rect">
            <a:avLst/>
          </a:prstGeom>
          <a:noFill/>
          <a:ln/>
        </p:spPr>
        <p:txBody>
          <a:bodyPr wrap="square" lIns="0" tIns="0" rIns="0" bIns="0" rtlCol="0" anchor="t"/>
          <a:lstStyle/>
          <a:p>
            <a:pPr indent="0" marL="0">
              <a:buNone/>
            </a:pPr>
            <a:r>
              <a:rPr lang="en-US" sz="1500" i="1" dirty="0">
                <a:solidFill>
                  <a:schemeClr val="tx2"/>
                </a:solidFill>
              </a:rPr>
              <a:t>94 versions écartées au premier chargement, toutes enregistrées dans ventes_rejets (catégorie DOUBLON) avec leur fichier et leur ligne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Idempotence : rejouer le DAG ne change rien</a:t>
            </a:r>
            <a:endParaRPr lang="en-US" sz="3200" dirty="0"/>
          </a:p>
        </p:txBody>
      </p:sp>
      <p:graphicFrame>
        <p:nvGraphicFramePr>
          <p:cNvPr id="9" name="tableau-120"/>
          <p:cNvGraphicFramePr>
            <a:graphicFrameLocks noGrp="1"/>
          </p:cNvGraphicFramePr>
          <p:nvPr>
            <p:extLst>
              <p:ext uri="{D42A27DB-BD31-4B8C-83A1-F6EECF244321}">
                <p14:modId xmlns:p14="http://schemas.microsoft.com/office/powerpoint/2010/main" val="1579011935"/>
              </p:ext>
            </p:extLst>
          </p:nvPr>
        </p:nvGraphicFramePr>
        <p:xfrm>
          <a:off x="548640" y="1371600"/>
          <a:ext cx="5943600" cy="914400"/>
        </p:xfrm>
        <a:graphic>
          <a:graphicData uri="http://schemas.openxmlformats.org/drawingml/2006/table">
            <a:tbl>
              <a:tblPr/>
              <a:tblGrid>
                <a:gridCol w="2971800"/>
                <a:gridCol w="2971800"/>
              </a:tblGrid>
              <a:tr h="566928">
                <a:tc>
                  <a:txBody>
                    <a:bodyPr/>
                    <a:lstStyle/>
                    <a:p>
                      <a:pPr indent="0" marL="0">
                        <a:buNone/>
                      </a:pPr>
                      <a:r>
                        <a:rPr lang="en-US" sz="1400" b="1" dirty="0">
                          <a:solidFill>
                            <a:schemeClr val="bg1"/>
                          </a:solidFill>
                        </a:rPr>
                        <a:t>Situation en base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Action</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r>
              <a:tr h="566928">
                <a:tc>
                  <a:txBody>
                    <a:bodyPr/>
                    <a:lstStyle/>
                    <a:p>
                      <a:pPr indent="0" marL="0">
                        <a:buNone/>
                      </a:pPr>
                      <a:r>
                        <a:rPr lang="en-US" sz="1400" dirty="0">
                          <a:solidFill>
                            <a:schemeClr val="tx1"/>
                          </a:solidFill>
                        </a:rPr>
                        <a:t>Référence absente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Insertion, version 1</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400" dirty="0">
                          <a:solidFill>
                            <a:schemeClr val="tx1"/>
                          </a:solidFill>
                        </a:rPr>
                        <a:t>Même empreinte SHA-256</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Aucune écriture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400" dirty="0">
                          <a:solidFill>
                            <a:schemeClr val="tx1"/>
                          </a:solidFill>
                        </a:rPr>
                        <a:t>Empreinte différente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Mise à jour, version + 1</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400" dirty="0">
                          <a:solidFill>
                            <a:schemeClr val="tx1"/>
                          </a:solidFill>
                        </a:rPr>
                        <a:t>Supprimée via l'API</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Jamais recréée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400" dirty="0">
                          <a:solidFill>
                            <a:schemeClr val="tx1"/>
                          </a:solidFill>
                        </a:rPr>
                        <a:t>Créée via l'API</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Conservée, ligne en CONFLIT</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bl>
          </a:graphicData>
        </a:graphic>
      </p:graphicFrame>
      <p:sp>
        <p:nvSpPr>
          <p:cNvPr id="4" name="texte-121"/>
          <p:cNvSpPr txBox="1"/>
          <p:nvPr/>
        </p:nvSpPr>
        <p:spPr>
          <a:xfrm>
            <a:off x="548640" y="4983480"/>
            <a:ext cx="5943600" cy="1097280"/>
          </a:xfrm>
          <a:prstGeom prst="rect">
            <a:avLst/>
          </a:prstGeom>
          <a:noFill/>
          <a:ln/>
        </p:spPr>
        <p:txBody>
          <a:bodyPr wrap="square" lIns="0" tIns="0" rIns="0" bIns="0" rtlCol="0" anchor="t"/>
          <a:lstStyle/>
          <a:p>
            <a:pPr indent="0" marL="0">
              <a:buNone/>
            </a:pPr>
            <a:r>
              <a:rPr lang="en-US" sz="1400" dirty="0">
                <a:solidFill>
                  <a:schemeClr val="tx2"/>
                </a:solidFill>
              </a:rPr>
              <a:t>L'empreinte ne porte que sur le contenu métier : un export qui reprend une vente sans la modifier donne la même empreinte. Un index unique sur la référence protège en dernier recours.</a:t>
            </a:r>
            <a:endParaRPr lang="en-US" sz="1400" dirty="0"/>
          </a:p>
        </p:txBody>
      </p:sp>
      <p:graphicFrame>
        <p:nvGraphicFramePr>
          <p:cNvPr id="5" name="Chart 0" descr=""/>
          <p:cNvGraphicFramePr/>
          <p:nvPr/>
        </p:nvGraphicFramePr>
        <p:xfrm>
          <a:off x="6858000" y="1325880"/>
          <a:ext cx="475488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API REST : CRUD complet des ventes</a:t>
            </a:r>
            <a:endParaRPr lang="en-US" sz="3200" dirty="0"/>
          </a:p>
        </p:txBody>
      </p:sp>
      <p:graphicFrame>
        <p:nvGraphicFramePr>
          <p:cNvPr id="10" name="tableau-122"/>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914400"/>
        </p:xfrm>
        <a:graphic>
          <a:graphicData uri="http://schemas.openxmlformats.org/drawingml/2006/table">
            <a:tbl>
              <a:tblPr/>
              <a:tblGrid>
                <a:gridCol w="1097280"/>
                <a:gridCol w="3291840"/>
                <a:gridCol w="2651760"/>
              </a:tblGrid>
              <a:tr h="512064">
                <a:tc>
                  <a:txBody>
                    <a:bodyPr/>
                    <a:lstStyle/>
                    <a:p>
                      <a:pPr indent="0" marL="0">
                        <a:buNone/>
                      </a:pPr>
                      <a:r>
                        <a:rPr lang="en-US" sz="1400" b="1" dirty="0">
                          <a:solidFill>
                            <a:schemeClr val="bg1"/>
                          </a:solidFill>
                        </a:rPr>
                        <a:t>Méthode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Route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Rôle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r>
              <a:tr h="512064">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GET</a:t>
                      </a:r>
                      <a:endParaRPr lang="en-US" sz="1400" dirty="0">
                        <a:latin typeface="Courier New" charset="0"/>
                        <a:ea typeface="Courier New" charset="0"/>
                        <a:cs typeface="Courier New" charset="0"/>
                      </a:endParaRPr>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/api/v1/ventes</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Liste filtrée, paginée, triée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b="1" dirty="0">
                          <a:solidFill>
                            <a:schemeClr val="accent4"/>
                          </a:solidFill>
                          <a:latin typeface="Courier New" pitchFamily="34" charset="0"/>
                          <a:ea typeface="Courier New" pitchFamily="34" charset="-122"/>
                          <a:cs typeface="Courier New" pitchFamily="34" charset="-120"/>
                        </a:rPr>
                        <a:t>POST</a:t>
                      </a:r>
                      <a:endParaRPr lang="en-US" sz="1400" dirty="0">
                        <a:latin typeface="Courier New" charset="0"/>
                        <a:ea typeface="Courier New" charset="0"/>
                        <a:cs typeface="Courier New" charset="0"/>
                      </a:endParaRPr>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/api/v1/ventes</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Création (201)</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GET</a:t>
                      </a:r>
                      <a:endParaRPr lang="en-US" sz="1400" dirty="0">
                        <a:latin typeface="Courier New" charset="0"/>
                        <a:ea typeface="Courier New" charset="0"/>
                        <a:cs typeface="Courier New" charset="0"/>
                      </a:endParaRPr>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/api/v1/ventes/{reference}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Détail</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b="1" dirty="0">
                          <a:solidFill>
                            <a:schemeClr val="accent6"/>
                          </a:solidFill>
                          <a:latin typeface="Courier New" pitchFamily="34" charset="0"/>
                          <a:ea typeface="Courier New" pitchFamily="34" charset="-122"/>
                          <a:cs typeface="Courier New" pitchFamily="34" charset="-120"/>
                        </a:rPr>
                        <a:t>PUT</a:t>
                      </a:r>
                      <a:endParaRPr lang="en-US" sz="1400" dirty="0">
                        <a:latin typeface="Courier New" charset="0"/>
                        <a:ea typeface="Courier New" charset="0"/>
                        <a:cs typeface="Courier New" charset="0"/>
                      </a:endParaRPr>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/api/v1/ventes/{reference}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Remplacement complet</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b="1" dirty="0">
                          <a:solidFill>
                            <a:schemeClr val="accent6"/>
                          </a:solidFill>
                          <a:latin typeface="Courier New" pitchFamily="34" charset="0"/>
                          <a:ea typeface="Courier New" pitchFamily="34" charset="-122"/>
                          <a:cs typeface="Courier New" pitchFamily="34" charset="-120"/>
                        </a:rPr>
                        <a:t>PATCH</a:t>
                      </a:r>
                      <a:endParaRPr lang="en-US" sz="1400" dirty="0">
                        <a:latin typeface="Courier New" charset="0"/>
                        <a:ea typeface="Courier New" charset="0"/>
                        <a:cs typeface="Courier New" charset="0"/>
                      </a:endParaRPr>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/api/v1/ventes/{reference}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Modification partielle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DELETE</a:t>
                      </a:r>
                      <a:endParaRPr lang="en-US" sz="1400" dirty="0">
                        <a:latin typeface="Courier New" charset="0"/>
                        <a:ea typeface="Courier New" charset="0"/>
                        <a:cs typeface="Courier New" charset="0"/>
                      </a:endParaRPr>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/api/v1/ventes/{reference}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Suppression logique (204)</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GET</a:t>
                      </a:r>
                      <a:endParaRPr lang="en-US" sz="1400" dirty="0">
                        <a:latin typeface="Courier New" charset="0"/>
                        <a:ea typeface="Courier New" charset="0"/>
                        <a:cs typeface="Courier New" charset="0"/>
                      </a:endParaRPr>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/api/v1/ventes/statistiques</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Chiffre d'affaires, répartitions</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GET</a:t>
                      </a:r>
                      <a:endParaRPr lang="en-US" sz="1400" dirty="0">
                        <a:latin typeface="Courier New" charset="0"/>
                        <a:ea typeface="Courier New" charset="0"/>
                        <a:cs typeface="Courier New" charset="0"/>
                      </a:endParaRPr>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/api/v1/clients, /api/v1/etl/…</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Clients et suivi du DAG</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bl>
          </a:graphicData>
        </a:graphic>
      </p:graphicFrame>
      <p:sp>
        <p:nvSpPr>
          <p:cNvPr id="4" name="carte-123"/>
          <p:cNvSpPr/>
          <p:nvPr/>
        </p:nvSpPr>
        <p:spPr>
          <a:xfrm>
            <a:off x="7955280" y="1371600"/>
            <a:ext cx="3657600" cy="4617720"/>
          </a:xfrm>
          <a:prstGeom prst="roundRect">
            <a:avLst>
              <a:gd name="adj" fmla="val 2000"/>
            </a:avLst>
          </a:prstGeom>
          <a:solidFill>
            <a:schemeClr val="bg2"/>
          </a:solidFill>
          <a:ln w="12700">
            <a:solidFill>
              <a:schemeClr val="bg2"/>
            </a:solidFill>
            <a:prstDash val="solid"/>
          </a:ln>
        </p:spPr>
      </p:sp>
      <p:sp>
        <p:nvSpPr>
          <p:cNvPr id="5" name="texte-124"/>
          <p:cNvSpPr txBox="1"/>
          <p:nvPr/>
        </p:nvSpPr>
        <p:spPr>
          <a:xfrm>
            <a:off x="8229600" y="160020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Règles métier</a:t>
            </a:r>
            <a:endParaRPr lang="en-US" sz="2000" dirty="0"/>
          </a:p>
        </p:txBody>
      </p:sp>
      <p:sp>
        <p:nvSpPr>
          <p:cNvPr id="6" name="texte-125"/>
          <p:cNvSpPr txBox="1"/>
          <p:nvPr/>
        </p:nvSpPr>
        <p:spPr>
          <a:xfrm>
            <a:off x="8229600" y="2148840"/>
            <a:ext cx="315468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Montants calculés par le serveur</a:t>
            </a:r>
            <a:endParaRPr lang="en-US" sz="1500" dirty="0"/>
          </a:p>
          <a:p>
            <a:pPr marL="342900" indent="-342900">
              <a:spcAft>
                <a:spcPts val="800"/>
              </a:spcAft>
              <a:buSzPct val="100000"/>
              <a:buChar char="•"/>
            </a:pPr>
            <a:r>
              <a:rPr lang="en-US" sz="1500" dirty="0">
                <a:solidFill>
                  <a:schemeClr val="tx1"/>
                </a:solidFill>
              </a:rPr>
              <a:t>Champs inconnus refusés</a:t>
            </a:r>
            <a:endParaRPr lang="en-US" sz="1500" dirty="0"/>
          </a:p>
          <a:p>
            <a:pPr marL="342900" indent="-342900">
              <a:spcAft>
                <a:spcPts val="800"/>
              </a:spcAft>
              <a:buSzPct val="100000"/>
              <a:buChar char="•"/>
            </a:pPr>
            <a:r>
              <a:rPr lang="en-US" sz="1500" dirty="0">
                <a:solidFill>
                  <a:schemeClr val="tx1"/>
                </a:solidFill>
              </a:rPr>
              <a:t>Client vérifié dans le référentiel</a:t>
            </a:r>
            <a:endParaRPr lang="en-US" sz="1500" dirty="0"/>
          </a:p>
          <a:p>
            <a:pPr marL="342900" indent="-342900">
              <a:spcAft>
                <a:spcPts val="800"/>
              </a:spcAft>
              <a:buSzPct val="100000"/>
              <a:buChar char="•"/>
            </a:pPr>
            <a:r>
              <a:rPr lang="en-US" sz="1500" dirty="0">
                <a:solidFill>
                  <a:schemeClr val="tx1"/>
                </a:solidFill>
              </a:rPr>
              <a:t>Suppression logique : la référence reste réservée</a:t>
            </a:r>
            <a:endParaRPr lang="en-US" sz="1500" dirty="0"/>
          </a:p>
          <a:p>
            <a:pPr marL="342900" indent="-342900">
              <a:spcAft>
                <a:spcPts val="800"/>
              </a:spcAft>
              <a:buSzPct val="100000"/>
              <a:buChar char="•"/>
            </a:pPr>
            <a:r>
              <a:rPr lang="en-US" sz="1500" dirty="0">
                <a:solidFill>
                  <a:schemeClr val="tx1"/>
                </a:solidFill>
              </a:rPr>
              <a:t>Contrat OpenAPI 3 et Swagger sur /docs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Des erreurs uniformes, exploitables et corrélées</a:t>
            </a:r>
            <a:endParaRPr lang="en-US" sz="3200" dirty="0"/>
          </a:p>
        </p:txBody>
      </p:sp>
      <p:sp>
        <p:nvSpPr>
          <p:cNvPr id="3" name="carte-126"/>
          <p:cNvSpPr/>
          <p:nvPr/>
        </p:nvSpPr>
        <p:spPr>
          <a:xfrm>
            <a:off x="548640" y="1371600"/>
            <a:ext cx="5120640" cy="4069080"/>
          </a:xfrm>
          <a:prstGeom prst="roundRect">
            <a:avLst>
              <a:gd name="adj" fmla="val 1798"/>
            </a:avLst>
          </a:prstGeom>
          <a:solidFill>
            <a:schemeClr val="tx2"/>
          </a:solidFill>
          <a:ln w="12700">
            <a:solidFill>
              <a:schemeClr val="tx2"/>
            </a:solidFill>
            <a:prstDash val="solid"/>
          </a:ln>
        </p:spPr>
      </p:sp>
      <p:sp>
        <p:nvSpPr>
          <p:cNvPr id="4" name="texte-127"/>
          <p:cNvSpPr txBox="1"/>
          <p:nvPr/>
        </p:nvSpPr>
        <p:spPr>
          <a:xfrm>
            <a:off x="822960" y="1463040"/>
            <a:ext cx="4663440" cy="388620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"erreur":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"code": "VALIDATION_ECHOUEE",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"message": "Les donnees envoyees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sont invalides",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"details":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"champ": "quantite",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"message": "... &gt;= 1"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"request_id": "demo-0001",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"horodatage": "2026-10-19T10:00Z"</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graphicFrame>
        <p:nvGraphicFramePr>
          <p:cNvPr id="11" name="tableau-128"/>
          <p:cNvGraphicFramePr>
            <a:graphicFrameLocks noGrp="1"/>
          </p:cNvGraphicFramePr>
          <p:nvPr>
            <p:extLst>
              <p:ext uri="{D42A27DB-BD31-4B8C-83A1-F6EECF244321}">
                <p14:modId xmlns:p14="http://schemas.microsoft.com/office/powerpoint/2010/main" val="1579011935"/>
              </p:ext>
            </p:extLst>
          </p:nvPr>
        </p:nvGraphicFramePr>
        <p:xfrm>
          <a:off x="6035040" y="1371600"/>
          <a:ext cx="5577840" cy="914400"/>
        </p:xfrm>
        <a:graphic>
          <a:graphicData uri="http://schemas.openxmlformats.org/drawingml/2006/table">
            <a:tbl>
              <a:tblPr/>
              <a:tblGrid>
                <a:gridCol w="914400"/>
                <a:gridCol w="4663440"/>
              </a:tblGrid>
              <a:tr h="512064">
                <a:tc>
                  <a:txBody>
                    <a:bodyPr/>
                    <a:lstStyle/>
                    <a:p>
                      <a:pPr indent="0" marL="0">
                        <a:buNone/>
                      </a:pPr>
                      <a:r>
                        <a:rPr lang="en-US" sz="1400" b="1" dirty="0">
                          <a:solidFill>
                            <a:schemeClr val="bg1"/>
                          </a:solidFill>
                        </a:rPr>
                        <a:t>HTTP</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Code applicatif</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r>
              <a:tr h="512064">
                <a:tc>
                  <a:txBody>
                    <a:bodyPr/>
                    <a:lstStyle/>
                    <a:p>
                      <a:pPr indent="0" marL="0">
                        <a:buNone/>
                      </a:pPr>
                      <a:r>
                        <a:rPr lang="en-US" sz="1400" dirty="0">
                          <a:solidFill>
                            <a:schemeClr val="tx1"/>
                          </a:solidFill>
                        </a:rPr>
                        <a:t>400</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VALIDATION_ECHOUEE, JSON_INVALIDE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dirty="0">
                          <a:solidFill>
                            <a:schemeClr val="tx1"/>
                          </a:solidFill>
                        </a:rPr>
                        <a:t>404</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RESSOURCE_INTROUVABLE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dirty="0">
                          <a:solidFill>
                            <a:schemeClr val="tx1"/>
                          </a:solidFill>
                        </a:rPr>
                        <a:t>409</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REFERENCE_EXISTANTE</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dirty="0">
                          <a:solidFill>
                            <a:schemeClr val="tx1"/>
                          </a:solidFill>
                        </a:rPr>
                        <a:t>413</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CORPS_TROP_VOLUMINEUX</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dirty="0">
                          <a:solidFill>
                            <a:schemeClr val="tx1"/>
                          </a:solidFill>
                        </a:rPr>
                        <a:t>422</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CLIENT_INCONNU</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dirty="0">
                          <a:solidFill>
                            <a:schemeClr val="tx1"/>
                          </a:solidFill>
                        </a:rPr>
                        <a:t>503</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BASE_INDISPONIBLE (+ Retry-After)</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12064">
                <a:tc>
                  <a:txBody>
                    <a:bodyPr/>
                    <a:lstStyle/>
                    <a:p>
                      <a:pPr indent="0" marL="0">
                        <a:buNone/>
                      </a:pPr>
                      <a:r>
                        <a:rPr lang="en-US" sz="1400" dirty="0">
                          <a:solidFill>
                            <a:schemeClr val="tx1"/>
                          </a:solidFill>
                        </a:rPr>
                        <a:t>500</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400" dirty="0">
                          <a:solidFill>
                            <a:schemeClr val="tx1"/>
                          </a:solidFill>
                        </a:rPr>
                        <a:t>ERREUR_INTERNE, pile en journal seulement</a:t>
                      </a:r>
                      <a:endParaRPr lang="en-US" sz="1400" dirty="0"/>
                    </a:p>
                  </a:txBody>
                  <a:tcPr marL="76200" marR="76200" marT="50800" marB="5080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bl>
          </a:graphicData>
        </a:graphic>
      </p:graphicFrame>
      <p:sp>
        <p:nvSpPr>
          <p:cNvPr id="6" name="texte-129"/>
          <p:cNvSpPr txBox="1"/>
          <p:nvPr/>
        </p:nvSpPr>
        <p:spPr>
          <a:xfrm>
            <a:off x="6035040" y="5532120"/>
            <a:ext cx="5577840" cy="457200"/>
          </a:xfrm>
          <a:prstGeom prst="rect">
            <a:avLst/>
          </a:prstGeom>
          <a:noFill/>
          <a:ln/>
        </p:spPr>
        <p:txBody>
          <a:bodyPr wrap="square" lIns="0" tIns="0" rIns="0" bIns="0" rtlCol="0" anchor="t"/>
          <a:lstStyle/>
          <a:p>
            <a:pPr indent="0" marL="0">
              <a:buNone/>
            </a:pPr>
            <a:r>
              <a:rPr lang="en-US" sz="1400" i="1" dirty="0">
                <a:solidFill>
                  <a:schemeClr val="tx2"/>
                </a:solidFill>
              </a:rPr>
              <a:t>L'identifiant X-Request-Id est renvoyé dans l'en-tête, le corps et les journaux</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Journaux centralisés : retrouver une erreur en secondes</a:t>
            </a:r>
            <a:endParaRPr lang="en-US" sz="3200" dirty="0"/>
          </a:p>
        </p:txBody>
      </p:sp>
      <p:sp>
        <p:nvSpPr>
          <p:cNvPr id="3" name="carte-130"/>
          <p:cNvSpPr/>
          <p:nvPr/>
        </p:nvSpPr>
        <p:spPr>
          <a:xfrm>
            <a:off x="548640" y="1371600"/>
            <a:ext cx="2377440" cy="914400"/>
          </a:xfrm>
          <a:prstGeom prst="roundRect">
            <a:avLst>
              <a:gd name="adj" fmla="val 8000"/>
            </a:avLst>
          </a:prstGeom>
          <a:solidFill>
            <a:schemeClr val="accent1"/>
          </a:solidFill>
          <a:ln w="12700">
            <a:solidFill>
              <a:schemeClr val="accent1"/>
            </a:solidFill>
            <a:prstDash val="solid"/>
          </a:ln>
        </p:spPr>
      </p:sp>
      <p:sp>
        <p:nvSpPr>
          <p:cNvPr id="4" name="bloc-131"/>
          <p:cNvSpPr txBox="1"/>
          <p:nvPr/>
        </p:nvSpPr>
        <p:spPr>
          <a:xfrm>
            <a:off x="685800" y="1371600"/>
            <a:ext cx="2103120" cy="914400"/>
          </a:xfrm>
          <a:prstGeom prst="rect">
            <a:avLst/>
          </a:prstGeom>
          <a:noFill/>
          <a:ln/>
        </p:spPr>
        <p:txBody>
          <a:bodyPr wrap="square" lIns="0" tIns="0" rIns="0" bIns="0" rtlCol="0" anchor="ctr"/>
          <a:lstStyle/>
          <a:p>
            <a:pPr algn="ctr" indent="0" marL="0">
              <a:buNone/>
            </a:pPr>
            <a:r>
              <a:rPr lang="en-US" sz="1800" b="1" dirty="0">
                <a:solidFill>
                  <a:schemeClr val="bg1"/>
                </a:solidFill>
              </a:rPr>
              <a:t>Filebeat</a:t>
            </a:r>
            <a:endParaRPr lang="en-US" sz="1800" dirty="0"/>
          </a:p>
        </p:txBody>
      </p:sp>
      <p:sp>
        <p:nvSpPr>
          <p:cNvPr id="5" name="fleche-132"/>
          <p:cNvSpPr/>
          <p:nvPr/>
        </p:nvSpPr>
        <p:spPr>
          <a:xfrm>
            <a:off x="2971800" y="1828800"/>
            <a:ext cx="365760" cy="0"/>
          </a:xfrm>
          <a:prstGeom prst="line">
            <a:avLst/>
          </a:prstGeom>
          <a:noFill/>
          <a:ln w="25400">
            <a:solidFill>
              <a:srgbClr val="6B7C82"/>
            </a:solidFill>
            <a:prstDash val="solid"/>
            <a:tailEnd type="triangle"/>
          </a:ln>
        </p:spPr>
      </p:sp>
      <p:sp>
        <p:nvSpPr>
          <p:cNvPr id="6" name="carte-133"/>
          <p:cNvSpPr/>
          <p:nvPr/>
        </p:nvSpPr>
        <p:spPr>
          <a:xfrm>
            <a:off x="3383280" y="1371600"/>
            <a:ext cx="2377440" cy="914400"/>
          </a:xfrm>
          <a:prstGeom prst="roundRect">
            <a:avLst>
              <a:gd name="adj" fmla="val 8000"/>
            </a:avLst>
          </a:prstGeom>
          <a:solidFill>
            <a:schemeClr val="accent1"/>
          </a:solidFill>
          <a:ln w="12700">
            <a:solidFill>
              <a:schemeClr val="accent1"/>
            </a:solidFill>
            <a:prstDash val="solid"/>
          </a:ln>
        </p:spPr>
      </p:sp>
      <p:sp>
        <p:nvSpPr>
          <p:cNvPr id="7" name="bloc-134"/>
          <p:cNvSpPr txBox="1"/>
          <p:nvPr/>
        </p:nvSpPr>
        <p:spPr>
          <a:xfrm>
            <a:off x="3520440" y="1371600"/>
            <a:ext cx="2103120" cy="914400"/>
          </a:xfrm>
          <a:prstGeom prst="rect">
            <a:avLst/>
          </a:prstGeom>
          <a:noFill/>
          <a:ln/>
        </p:spPr>
        <p:txBody>
          <a:bodyPr wrap="square" lIns="0" tIns="0" rIns="0" bIns="0" rtlCol="0" anchor="ctr"/>
          <a:lstStyle/>
          <a:p>
            <a:pPr algn="ctr" indent="0" marL="0">
              <a:buNone/>
            </a:pPr>
            <a:r>
              <a:rPr lang="en-US" sz="1800" b="1" dirty="0">
                <a:solidFill>
                  <a:schemeClr val="bg1"/>
                </a:solidFill>
              </a:rPr>
              <a:t>Logstash</a:t>
            </a:r>
            <a:endParaRPr lang="en-US" sz="1800" dirty="0"/>
          </a:p>
        </p:txBody>
      </p:sp>
      <p:sp>
        <p:nvSpPr>
          <p:cNvPr id="8" name="fleche-135"/>
          <p:cNvSpPr/>
          <p:nvPr/>
        </p:nvSpPr>
        <p:spPr>
          <a:xfrm>
            <a:off x="5806440" y="1828800"/>
            <a:ext cx="365760" cy="0"/>
          </a:xfrm>
          <a:prstGeom prst="line">
            <a:avLst/>
          </a:prstGeom>
          <a:noFill/>
          <a:ln w="25400">
            <a:solidFill>
              <a:srgbClr val="6B7C82"/>
            </a:solidFill>
            <a:prstDash val="solid"/>
            <a:tailEnd type="triangle"/>
          </a:ln>
        </p:spPr>
      </p:sp>
      <p:sp>
        <p:nvSpPr>
          <p:cNvPr id="9" name="carte-136"/>
          <p:cNvSpPr/>
          <p:nvPr/>
        </p:nvSpPr>
        <p:spPr>
          <a:xfrm>
            <a:off x="6217920" y="1371600"/>
            <a:ext cx="2377440" cy="914400"/>
          </a:xfrm>
          <a:prstGeom prst="roundRect">
            <a:avLst>
              <a:gd name="adj" fmla="val 8000"/>
            </a:avLst>
          </a:prstGeom>
          <a:solidFill>
            <a:schemeClr val="accent1"/>
          </a:solidFill>
          <a:ln w="12700">
            <a:solidFill>
              <a:schemeClr val="accent1"/>
            </a:solidFill>
            <a:prstDash val="solid"/>
          </a:ln>
        </p:spPr>
      </p:sp>
      <p:sp>
        <p:nvSpPr>
          <p:cNvPr id="10" name="bloc-137"/>
          <p:cNvSpPr txBox="1"/>
          <p:nvPr/>
        </p:nvSpPr>
        <p:spPr>
          <a:xfrm>
            <a:off x="6355080" y="1371600"/>
            <a:ext cx="2103120" cy="914400"/>
          </a:xfrm>
          <a:prstGeom prst="rect">
            <a:avLst/>
          </a:prstGeom>
          <a:noFill/>
          <a:ln/>
        </p:spPr>
        <p:txBody>
          <a:bodyPr wrap="square" lIns="0" tIns="0" rIns="0" bIns="0" rtlCol="0" anchor="ctr"/>
          <a:lstStyle/>
          <a:p>
            <a:pPr algn="ctr" indent="0" marL="0">
              <a:buNone/>
            </a:pPr>
            <a:r>
              <a:rPr lang="en-US" sz="1800" b="1" dirty="0">
                <a:solidFill>
                  <a:schemeClr val="bg1"/>
                </a:solidFill>
              </a:rPr>
              <a:t>Elasticsearch</a:t>
            </a:r>
            <a:endParaRPr lang="en-US" sz="1800" dirty="0"/>
          </a:p>
        </p:txBody>
      </p:sp>
      <p:sp>
        <p:nvSpPr>
          <p:cNvPr id="11" name="fleche-138"/>
          <p:cNvSpPr/>
          <p:nvPr/>
        </p:nvSpPr>
        <p:spPr>
          <a:xfrm>
            <a:off x="8641080" y="1828800"/>
            <a:ext cx="365760" cy="0"/>
          </a:xfrm>
          <a:prstGeom prst="line">
            <a:avLst/>
          </a:prstGeom>
          <a:noFill/>
          <a:ln w="25400">
            <a:solidFill>
              <a:srgbClr val="6B7C82"/>
            </a:solidFill>
            <a:prstDash val="solid"/>
            <a:tailEnd type="triangle"/>
          </a:ln>
        </p:spPr>
      </p:sp>
      <p:sp>
        <p:nvSpPr>
          <p:cNvPr id="12" name="carte-139"/>
          <p:cNvSpPr/>
          <p:nvPr/>
        </p:nvSpPr>
        <p:spPr>
          <a:xfrm>
            <a:off x="9052560" y="1371600"/>
            <a:ext cx="2377440" cy="914400"/>
          </a:xfrm>
          <a:prstGeom prst="roundRect">
            <a:avLst>
              <a:gd name="adj" fmla="val 8000"/>
            </a:avLst>
          </a:prstGeom>
          <a:solidFill>
            <a:schemeClr val="accent2"/>
          </a:solidFill>
          <a:ln w="12700">
            <a:solidFill>
              <a:schemeClr val="accent2"/>
            </a:solidFill>
            <a:prstDash val="solid"/>
          </a:ln>
        </p:spPr>
      </p:sp>
      <p:sp>
        <p:nvSpPr>
          <p:cNvPr id="13" name="bloc-140"/>
          <p:cNvSpPr txBox="1"/>
          <p:nvPr/>
        </p:nvSpPr>
        <p:spPr>
          <a:xfrm>
            <a:off x="9189720" y="1371600"/>
            <a:ext cx="2103120" cy="914400"/>
          </a:xfrm>
          <a:prstGeom prst="rect">
            <a:avLst/>
          </a:prstGeom>
          <a:noFill/>
          <a:ln/>
        </p:spPr>
        <p:txBody>
          <a:bodyPr wrap="square" lIns="0" tIns="0" rIns="0" bIns="0" rtlCol="0" anchor="ctr"/>
          <a:lstStyle/>
          <a:p>
            <a:pPr algn="ctr" indent="0" marL="0">
              <a:buNone/>
            </a:pPr>
            <a:r>
              <a:rPr lang="en-US" sz="1800" b="1" dirty="0">
                <a:solidFill>
                  <a:schemeClr val="tx1"/>
                </a:solidFill>
              </a:rPr>
              <a:t>Kibana</a:t>
            </a:r>
            <a:endParaRPr lang="en-US" sz="1800" dirty="0"/>
          </a:p>
        </p:txBody>
      </p:sp>
      <p:sp>
        <p:nvSpPr>
          <p:cNvPr id="14" name="texte-141"/>
          <p:cNvSpPr txBox="1"/>
          <p:nvPr/>
        </p:nvSpPr>
        <p:spPr>
          <a:xfrm>
            <a:off x="548640" y="2468880"/>
            <a:ext cx="11064240" cy="457200"/>
          </a:xfrm>
          <a:prstGeom prst="rect">
            <a:avLst/>
          </a:prstGeom>
          <a:noFill/>
          <a:ln/>
        </p:spPr>
        <p:txBody>
          <a:bodyPr wrap="square" lIns="0" tIns="0" rIns="0" bIns="0" rtlCol="0" anchor="t"/>
          <a:lstStyle/>
          <a:p>
            <a:pPr indent="0" marL="0">
              <a:buNone/>
            </a:pPr>
            <a:r>
              <a:rPr lang="en-US" sz="1400" dirty="0">
                <a:solidFill>
                  <a:schemeClr val="accent5"/>
                </a:solidFill>
              </a:rPr>
              <a:t>Index journaliers api-ventes-logs-* et airflow-logs-* · 2 vues de données, 6 recherches enregistrées, 1 tableau de bord importés automatiquement</a:t>
            </a:r>
            <a:endParaRPr lang="en-US" sz="1400" dirty="0"/>
          </a:p>
        </p:txBody>
      </p:sp>
      <p:sp>
        <p:nvSpPr>
          <p:cNvPr id="15" name="texte-142"/>
          <p:cNvSpPr txBox="1"/>
          <p:nvPr/>
        </p:nvSpPr>
        <p:spPr>
          <a:xfrm>
            <a:off x="548640" y="3154680"/>
            <a:ext cx="1097280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Vérifier une erreur de l'API</a:t>
            </a:r>
            <a:endParaRPr lang="en-US" sz="2000" dirty="0"/>
          </a:p>
        </p:txBody>
      </p:sp>
      <p:sp>
        <p:nvSpPr>
          <p:cNvPr id="16" name="carte-143"/>
          <p:cNvSpPr/>
          <p:nvPr/>
        </p:nvSpPr>
        <p:spPr>
          <a:xfrm>
            <a:off x="548640" y="3749040"/>
            <a:ext cx="3520440" cy="1737360"/>
          </a:xfrm>
          <a:prstGeom prst="roundRect">
            <a:avLst>
              <a:gd name="adj" fmla="val 4211"/>
            </a:avLst>
          </a:prstGeom>
          <a:solidFill>
            <a:schemeClr val="bg2"/>
          </a:solidFill>
          <a:ln w="12700">
            <a:solidFill>
              <a:schemeClr val="bg2"/>
            </a:solidFill>
            <a:prstDash val="solid"/>
          </a:ln>
        </p:spPr>
      </p:sp>
      <p:sp>
        <p:nvSpPr>
          <p:cNvPr id="17" name="pastille-144"/>
          <p:cNvSpPr/>
          <p:nvPr/>
        </p:nvSpPr>
        <p:spPr>
          <a:xfrm>
            <a:off x="822960" y="3977640"/>
            <a:ext cx="457200" cy="457200"/>
          </a:xfrm>
          <a:prstGeom prst="ellipse">
            <a:avLst/>
          </a:prstGeom>
          <a:solidFill>
            <a:schemeClr val="accent2"/>
          </a:solidFill>
          <a:ln w="12700">
            <a:solidFill>
              <a:schemeClr val="accent2"/>
            </a:solidFill>
            <a:prstDash val="solid"/>
          </a:ln>
        </p:spPr>
      </p:sp>
      <p:sp>
        <p:nvSpPr>
          <p:cNvPr id="18" name="numero-145"/>
          <p:cNvSpPr txBox="1"/>
          <p:nvPr/>
        </p:nvSpPr>
        <p:spPr>
          <a:xfrm>
            <a:off x="822960" y="39776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9" name="texte-146"/>
          <p:cNvSpPr txBox="1"/>
          <p:nvPr/>
        </p:nvSpPr>
        <p:spPr>
          <a:xfrm>
            <a:off x="1463040" y="3977640"/>
            <a:ext cx="2468880" cy="457200"/>
          </a:xfrm>
          <a:prstGeom prst="rect">
            <a:avLst/>
          </a:prstGeom>
          <a:noFill/>
          <a:ln/>
        </p:spPr>
        <p:txBody>
          <a:bodyPr wrap="square" lIns="0" tIns="0" rIns="0" bIns="0" rtlCol="0" anchor="ctr"/>
          <a:lstStyle/>
          <a:p>
            <a:pPr indent="0" marL="0">
              <a:buNone/>
            </a:pPr>
            <a:r>
              <a:rPr lang="en-US" sz="1700" b="1" dirty="0">
                <a:solidFill>
                  <a:schemeClr val="tx2"/>
                </a:solidFill>
              </a:rPr>
              <a:t>Appeler l'API</a:t>
            </a:r>
            <a:endParaRPr lang="en-US" sz="1700" dirty="0"/>
          </a:p>
        </p:txBody>
      </p:sp>
      <p:sp>
        <p:nvSpPr>
          <p:cNvPr id="20" name="texte-147"/>
          <p:cNvSpPr txBox="1"/>
          <p:nvPr/>
        </p:nvSpPr>
        <p:spPr>
          <a:xfrm>
            <a:off x="822960" y="4617720"/>
            <a:ext cx="3017520" cy="731520"/>
          </a:xfrm>
          <a:prstGeom prst="rect">
            <a:avLst/>
          </a:prstGeom>
          <a:noFill/>
          <a:ln/>
        </p:spPr>
        <p:txBody>
          <a:bodyPr wrap="square" lIns="0" tIns="0" rIns="0" bIns="0" rtlCol="0" anchor="t"/>
          <a:lstStyle/>
          <a:p>
            <a:pPr indent="0" marL="0">
              <a:buNone/>
            </a:pPr>
            <a:r>
              <a:rPr lang="en-US" sz="1500" dirty="0">
                <a:solidFill>
                  <a:schemeClr val="tx1"/>
                </a:solidFill>
              </a:rPr>
              <a:t>La réponse porte l'identifiant X‑Request‑Id</a:t>
            </a:r>
            <a:endParaRPr lang="en-US" sz="1500" dirty="0"/>
          </a:p>
        </p:txBody>
      </p:sp>
      <p:sp>
        <p:nvSpPr>
          <p:cNvPr id="21" name="carte-148"/>
          <p:cNvSpPr/>
          <p:nvPr/>
        </p:nvSpPr>
        <p:spPr>
          <a:xfrm>
            <a:off x="4334256" y="3749040"/>
            <a:ext cx="3520440" cy="1737360"/>
          </a:xfrm>
          <a:prstGeom prst="roundRect">
            <a:avLst>
              <a:gd name="adj" fmla="val 4211"/>
            </a:avLst>
          </a:prstGeom>
          <a:solidFill>
            <a:schemeClr val="bg2"/>
          </a:solidFill>
          <a:ln w="12700">
            <a:solidFill>
              <a:schemeClr val="bg2"/>
            </a:solidFill>
            <a:prstDash val="solid"/>
          </a:ln>
        </p:spPr>
      </p:sp>
      <p:sp>
        <p:nvSpPr>
          <p:cNvPr id="22" name="pastille-149"/>
          <p:cNvSpPr/>
          <p:nvPr/>
        </p:nvSpPr>
        <p:spPr>
          <a:xfrm>
            <a:off x="4608576" y="3977640"/>
            <a:ext cx="457200" cy="457200"/>
          </a:xfrm>
          <a:prstGeom prst="ellipse">
            <a:avLst/>
          </a:prstGeom>
          <a:solidFill>
            <a:schemeClr val="accent2"/>
          </a:solidFill>
          <a:ln w="12700">
            <a:solidFill>
              <a:schemeClr val="accent2"/>
            </a:solidFill>
            <a:prstDash val="solid"/>
          </a:ln>
        </p:spPr>
      </p:sp>
      <p:sp>
        <p:nvSpPr>
          <p:cNvPr id="23" name="numero-150"/>
          <p:cNvSpPr txBox="1"/>
          <p:nvPr/>
        </p:nvSpPr>
        <p:spPr>
          <a:xfrm>
            <a:off x="4608576" y="39776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4" name="texte-151"/>
          <p:cNvSpPr txBox="1"/>
          <p:nvPr/>
        </p:nvSpPr>
        <p:spPr>
          <a:xfrm>
            <a:off x="5248656" y="3977640"/>
            <a:ext cx="2468880" cy="457200"/>
          </a:xfrm>
          <a:prstGeom prst="rect">
            <a:avLst/>
          </a:prstGeom>
          <a:noFill/>
          <a:ln/>
        </p:spPr>
        <p:txBody>
          <a:bodyPr wrap="square" lIns="0" tIns="0" rIns="0" bIns="0" rtlCol="0" anchor="ctr"/>
          <a:lstStyle/>
          <a:p>
            <a:pPr indent="0" marL="0">
              <a:buNone/>
            </a:pPr>
            <a:r>
              <a:rPr lang="en-US" sz="1700" b="1" dirty="0">
                <a:solidFill>
                  <a:schemeClr val="tx2"/>
                </a:solidFill>
              </a:rPr>
              <a:t>Rechercher dans Kibana</a:t>
            </a:r>
            <a:endParaRPr lang="en-US" sz="1700" dirty="0"/>
          </a:p>
        </p:txBody>
      </p:sp>
      <p:sp>
        <p:nvSpPr>
          <p:cNvPr id="25" name="texte-152"/>
          <p:cNvSpPr txBox="1"/>
          <p:nvPr/>
        </p:nvSpPr>
        <p:spPr>
          <a:xfrm>
            <a:off x="4608576" y="4617720"/>
            <a:ext cx="3017520" cy="73152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request_id : "demo-0001"</a:t>
            </a:r>
            <a:endParaRPr lang="en-US" sz="1500" dirty="0"/>
          </a:p>
        </p:txBody>
      </p:sp>
      <p:sp>
        <p:nvSpPr>
          <p:cNvPr id="26" name="carte-153"/>
          <p:cNvSpPr/>
          <p:nvPr/>
        </p:nvSpPr>
        <p:spPr>
          <a:xfrm>
            <a:off x="8119872" y="3749040"/>
            <a:ext cx="3520440" cy="1737360"/>
          </a:xfrm>
          <a:prstGeom prst="roundRect">
            <a:avLst>
              <a:gd name="adj" fmla="val 4211"/>
            </a:avLst>
          </a:prstGeom>
          <a:solidFill>
            <a:schemeClr val="bg2"/>
          </a:solidFill>
          <a:ln w="12700">
            <a:solidFill>
              <a:schemeClr val="bg2"/>
            </a:solidFill>
            <a:prstDash val="solid"/>
          </a:ln>
        </p:spPr>
      </p:sp>
      <p:sp>
        <p:nvSpPr>
          <p:cNvPr id="27" name="pastille-154"/>
          <p:cNvSpPr/>
          <p:nvPr/>
        </p:nvSpPr>
        <p:spPr>
          <a:xfrm>
            <a:off x="8394192" y="3977640"/>
            <a:ext cx="457200" cy="457200"/>
          </a:xfrm>
          <a:prstGeom prst="ellipse">
            <a:avLst/>
          </a:prstGeom>
          <a:solidFill>
            <a:schemeClr val="accent2"/>
          </a:solidFill>
          <a:ln w="12700">
            <a:solidFill>
              <a:schemeClr val="accent2"/>
            </a:solidFill>
            <a:prstDash val="solid"/>
          </a:ln>
        </p:spPr>
      </p:sp>
      <p:sp>
        <p:nvSpPr>
          <p:cNvPr id="28" name="numero-155"/>
          <p:cNvSpPr txBox="1"/>
          <p:nvPr/>
        </p:nvSpPr>
        <p:spPr>
          <a:xfrm>
            <a:off x="8394192" y="39776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9" name="texte-156"/>
          <p:cNvSpPr txBox="1"/>
          <p:nvPr/>
        </p:nvSpPr>
        <p:spPr>
          <a:xfrm>
            <a:off x="9034272" y="3977640"/>
            <a:ext cx="2468880" cy="457200"/>
          </a:xfrm>
          <a:prstGeom prst="rect">
            <a:avLst/>
          </a:prstGeom>
          <a:noFill/>
          <a:ln/>
        </p:spPr>
        <p:txBody>
          <a:bodyPr wrap="square" lIns="0" tIns="0" rIns="0" bIns="0" rtlCol="0" anchor="ctr"/>
          <a:lstStyle/>
          <a:p>
            <a:pPr indent="0" marL="0">
              <a:buNone/>
            </a:pPr>
            <a:r>
              <a:rPr lang="en-US" sz="1700" b="1" dirty="0">
                <a:solidFill>
                  <a:schemeClr val="tx2"/>
                </a:solidFill>
              </a:rPr>
              <a:t>Lire le document</a:t>
            </a:r>
            <a:endParaRPr lang="en-US" sz="1700" dirty="0"/>
          </a:p>
        </p:txBody>
      </p:sp>
      <p:sp>
        <p:nvSpPr>
          <p:cNvPr id="30" name="texte-157"/>
          <p:cNvSpPr txBox="1"/>
          <p:nvPr/>
        </p:nvSpPr>
        <p:spPr>
          <a:xfrm>
            <a:off x="8394192" y="4617720"/>
            <a:ext cx="3017520" cy="731520"/>
          </a:xfrm>
          <a:prstGeom prst="rect">
            <a:avLst/>
          </a:prstGeom>
          <a:noFill/>
          <a:ln/>
        </p:spPr>
        <p:txBody>
          <a:bodyPr wrap="square" lIns="0" tIns="0" rIns="0" bIns="0" rtlCol="0" anchor="t"/>
          <a:lstStyle/>
          <a:p>
            <a:pPr indent="0" marL="0">
              <a:buNone/>
            </a:pPr>
            <a:r>
              <a:rPr lang="en-US" sz="1500" dirty="0">
                <a:solidFill>
                  <a:schemeClr val="tx1"/>
                </a:solidFill>
              </a:rPr>
              <a:t>http.statut, erreur.code, durée, route</a:t>
            </a:r>
            <a:endParaRPr lang="en-US" sz="1500" dirty="0"/>
          </a:p>
        </p:txBody>
      </p:sp>
      <p:sp>
        <p:nvSpPr>
          <p:cNvPr id="31" name="texte-158"/>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400" i="1" dirty="0">
                <a:solidFill>
                  <a:schemeClr val="tx2"/>
                </a:solidFill>
              </a:rPr>
              <a:t>Le bilan de chaque exécution du DAG (ligne BILAN_ETL) est aussi indexé et décodé par Logstash</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Quatre campagnes de test, aucun échec</a:t>
            </a:r>
            <a:endParaRPr lang="en-US" sz="3200" dirty="0"/>
          </a:p>
        </p:txBody>
      </p:sp>
      <p:sp>
        <p:nvSpPr>
          <p:cNvPr id="3" name="carte-159"/>
          <p:cNvSpPr/>
          <p:nvPr/>
        </p:nvSpPr>
        <p:spPr>
          <a:xfrm>
            <a:off x="548640" y="1371600"/>
            <a:ext cx="2606040" cy="2743200"/>
          </a:xfrm>
          <a:prstGeom prst="roundRect">
            <a:avLst>
              <a:gd name="adj" fmla="val 2807"/>
            </a:avLst>
          </a:prstGeom>
          <a:solidFill>
            <a:schemeClr val="bg2"/>
          </a:solidFill>
          <a:ln w="12700">
            <a:solidFill>
              <a:schemeClr val="bg2"/>
            </a:solidFill>
            <a:prstDash val="solid"/>
          </a:ln>
        </p:spPr>
      </p:sp>
      <p:sp>
        <p:nvSpPr>
          <p:cNvPr id="4" name="texte-160"/>
          <p:cNvSpPr txBox="1"/>
          <p:nvPr/>
        </p:nvSpPr>
        <p:spPr>
          <a:xfrm>
            <a:off x="777240" y="1554480"/>
            <a:ext cx="219456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47</a:t>
            </a:r>
            <a:endParaRPr lang="en-US" sz="4800" dirty="0"/>
          </a:p>
        </p:txBody>
      </p:sp>
      <p:sp>
        <p:nvSpPr>
          <p:cNvPr id="5" name="texte-161"/>
          <p:cNvSpPr txBox="1"/>
          <p:nvPr/>
        </p:nvSpPr>
        <p:spPr>
          <a:xfrm>
            <a:off x="777240" y="2514600"/>
            <a:ext cx="2194560" cy="457200"/>
          </a:xfrm>
          <a:prstGeom prst="rect">
            <a:avLst/>
          </a:prstGeom>
          <a:noFill/>
          <a:ln/>
        </p:spPr>
        <p:txBody>
          <a:bodyPr wrap="square" lIns="0" tIns="0" rIns="0" bIns="0" rtlCol="0" anchor="t"/>
          <a:lstStyle/>
          <a:p>
            <a:pPr indent="0" marL="0">
              <a:buNone/>
            </a:pPr>
            <a:r>
              <a:rPr lang="en-US" sz="1600" b="1" dirty="0">
                <a:solidFill>
                  <a:schemeClr val="tx2"/>
                </a:solidFill>
              </a:rPr>
              <a:t>tests Jest + Supertest</a:t>
            </a:r>
            <a:endParaRPr lang="en-US" sz="1600" dirty="0"/>
          </a:p>
        </p:txBody>
      </p:sp>
      <p:sp>
        <p:nvSpPr>
          <p:cNvPr id="6" name="texte-162"/>
          <p:cNvSpPr txBox="1"/>
          <p:nvPr/>
        </p:nvSpPr>
        <p:spPr>
          <a:xfrm>
            <a:off x="777240" y="3017520"/>
            <a:ext cx="2194560" cy="914400"/>
          </a:xfrm>
          <a:prstGeom prst="rect">
            <a:avLst/>
          </a:prstGeom>
          <a:noFill/>
          <a:ln/>
        </p:spPr>
        <p:txBody>
          <a:bodyPr wrap="square" lIns="0" tIns="0" rIns="0" bIns="0" rtlCol="0" anchor="t"/>
          <a:lstStyle/>
          <a:p>
            <a:pPr indent="0" marL="0">
              <a:buNone/>
            </a:pPr>
            <a:r>
              <a:rPr lang="en-US" sz="1400" dirty="0">
                <a:solidFill>
                  <a:schemeClr val="tx1"/>
                </a:solidFill>
              </a:rPr>
              <a:t>Routes, validation, erreurs, indisponibilité</a:t>
            </a:r>
            <a:endParaRPr lang="en-US" sz="1400" dirty="0"/>
          </a:p>
        </p:txBody>
      </p:sp>
      <p:sp>
        <p:nvSpPr>
          <p:cNvPr id="7" name="carte-163"/>
          <p:cNvSpPr/>
          <p:nvPr/>
        </p:nvSpPr>
        <p:spPr>
          <a:xfrm>
            <a:off x="3383280" y="1371600"/>
            <a:ext cx="2606040" cy="2743200"/>
          </a:xfrm>
          <a:prstGeom prst="roundRect">
            <a:avLst>
              <a:gd name="adj" fmla="val 2807"/>
            </a:avLst>
          </a:prstGeom>
          <a:solidFill>
            <a:schemeClr val="bg2"/>
          </a:solidFill>
          <a:ln w="12700">
            <a:solidFill>
              <a:schemeClr val="bg2"/>
            </a:solidFill>
            <a:prstDash val="solid"/>
          </a:ln>
        </p:spPr>
      </p:sp>
      <p:sp>
        <p:nvSpPr>
          <p:cNvPr id="8" name="texte-164"/>
          <p:cNvSpPr txBox="1"/>
          <p:nvPr/>
        </p:nvSpPr>
        <p:spPr>
          <a:xfrm>
            <a:off x="3611880" y="1554480"/>
            <a:ext cx="219456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43</a:t>
            </a:r>
            <a:endParaRPr lang="en-US" sz="4800" dirty="0"/>
          </a:p>
        </p:txBody>
      </p:sp>
      <p:sp>
        <p:nvSpPr>
          <p:cNvPr id="9" name="texte-165"/>
          <p:cNvSpPr txBox="1"/>
          <p:nvPr/>
        </p:nvSpPr>
        <p:spPr>
          <a:xfrm>
            <a:off x="3611880" y="2514600"/>
            <a:ext cx="2194560" cy="457200"/>
          </a:xfrm>
          <a:prstGeom prst="rect">
            <a:avLst/>
          </a:prstGeom>
          <a:noFill/>
          <a:ln/>
        </p:spPr>
        <p:txBody>
          <a:bodyPr wrap="square" lIns="0" tIns="0" rIns="0" bIns="0" rtlCol="0" anchor="t"/>
          <a:lstStyle/>
          <a:p>
            <a:pPr indent="0" marL="0">
              <a:buNone/>
            </a:pPr>
            <a:r>
              <a:rPr lang="en-US" sz="1600" b="1" dirty="0">
                <a:solidFill>
                  <a:schemeClr val="tx2"/>
                </a:solidFill>
              </a:rPr>
              <a:t>tests pytest</a:t>
            </a:r>
            <a:endParaRPr lang="en-US" sz="1600" dirty="0"/>
          </a:p>
        </p:txBody>
      </p:sp>
      <p:sp>
        <p:nvSpPr>
          <p:cNvPr id="10" name="texte-166"/>
          <p:cNvSpPr txBox="1"/>
          <p:nvPr/>
        </p:nvSpPr>
        <p:spPr>
          <a:xfrm>
            <a:off x="3611880" y="3017520"/>
            <a:ext cx="2194560" cy="914400"/>
          </a:xfrm>
          <a:prstGeom prst="rect">
            <a:avLst/>
          </a:prstGeom>
          <a:noFill/>
          <a:ln/>
        </p:spPr>
        <p:txBody>
          <a:bodyPr wrap="square" lIns="0" tIns="0" rIns="0" bIns="0" rtlCol="0" anchor="t"/>
          <a:lstStyle/>
          <a:p>
            <a:pPr indent="0" marL="0">
              <a:buNone/>
            </a:pPr>
            <a:r>
              <a:rPr lang="en-US" sz="1400" dirty="0">
                <a:solidFill>
                  <a:schemeClr val="tx1"/>
                </a:solidFill>
              </a:rPr>
              <a:t>Règles, intégrité du DAG, idempotence</a:t>
            </a:r>
            <a:endParaRPr lang="en-US" sz="1400" dirty="0"/>
          </a:p>
        </p:txBody>
      </p:sp>
      <p:sp>
        <p:nvSpPr>
          <p:cNvPr id="11" name="carte-167"/>
          <p:cNvSpPr/>
          <p:nvPr/>
        </p:nvSpPr>
        <p:spPr>
          <a:xfrm>
            <a:off x="6217920" y="1371600"/>
            <a:ext cx="2606040" cy="2743200"/>
          </a:xfrm>
          <a:prstGeom prst="roundRect">
            <a:avLst>
              <a:gd name="adj" fmla="val 2807"/>
            </a:avLst>
          </a:prstGeom>
          <a:solidFill>
            <a:schemeClr val="bg2"/>
          </a:solidFill>
          <a:ln w="12700">
            <a:solidFill>
              <a:schemeClr val="bg2"/>
            </a:solidFill>
            <a:prstDash val="solid"/>
          </a:ln>
        </p:spPr>
      </p:sp>
      <p:sp>
        <p:nvSpPr>
          <p:cNvPr id="12" name="texte-168"/>
          <p:cNvSpPr txBox="1"/>
          <p:nvPr/>
        </p:nvSpPr>
        <p:spPr>
          <a:xfrm>
            <a:off x="6446520" y="1554480"/>
            <a:ext cx="219456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5 / 5</a:t>
            </a:r>
            <a:endParaRPr lang="en-US" sz="4800" dirty="0"/>
          </a:p>
        </p:txBody>
      </p:sp>
      <p:sp>
        <p:nvSpPr>
          <p:cNvPr id="13" name="texte-169"/>
          <p:cNvSpPr txBox="1"/>
          <p:nvPr/>
        </p:nvSpPr>
        <p:spPr>
          <a:xfrm>
            <a:off x="6446520" y="2514600"/>
            <a:ext cx="2194560" cy="457200"/>
          </a:xfrm>
          <a:prstGeom prst="rect">
            <a:avLst/>
          </a:prstGeom>
          <a:noFill/>
          <a:ln/>
        </p:spPr>
        <p:txBody>
          <a:bodyPr wrap="square" lIns="0" tIns="0" rIns="0" bIns="0" rtlCol="0" anchor="t"/>
          <a:lstStyle/>
          <a:p>
            <a:pPr indent="0" marL="0">
              <a:buNone/>
            </a:pPr>
            <a:r>
              <a:rPr lang="en-US" sz="1600" b="1" dirty="0">
                <a:solidFill>
                  <a:schemeClr val="tx2"/>
                </a:solidFill>
              </a:rPr>
              <a:t>étapes de bout en bout</a:t>
            </a:r>
            <a:endParaRPr lang="en-US" sz="1600" dirty="0"/>
          </a:p>
        </p:txBody>
      </p:sp>
      <p:sp>
        <p:nvSpPr>
          <p:cNvPr id="14" name="texte-170"/>
          <p:cNvSpPr txBox="1"/>
          <p:nvPr/>
        </p:nvSpPr>
        <p:spPr>
          <a:xfrm>
            <a:off x="6446520" y="3017520"/>
            <a:ext cx="2194560" cy="914400"/>
          </a:xfrm>
          <a:prstGeom prst="rect">
            <a:avLst/>
          </a:prstGeom>
          <a:noFill/>
          <a:ln/>
        </p:spPr>
        <p:txBody>
          <a:bodyPr wrap="square" lIns="0" tIns="0" rIns="0" bIns="0" rtlCol="0" anchor="t"/>
          <a:lstStyle/>
          <a:p>
            <a:pPr indent="0" marL="0">
              <a:buNone/>
            </a:pPr>
            <a:r>
              <a:rPr lang="en-US" sz="1400" dirty="0">
                <a:solidFill>
                  <a:schemeClr val="tx1"/>
                </a:solidFill>
              </a:rPr>
              <a:t>CSV → Airflow → MongoDB → API → ELK</a:t>
            </a:r>
            <a:endParaRPr lang="en-US" sz="1400" dirty="0"/>
          </a:p>
        </p:txBody>
      </p:sp>
      <p:sp>
        <p:nvSpPr>
          <p:cNvPr id="15" name="carte-171"/>
          <p:cNvSpPr/>
          <p:nvPr/>
        </p:nvSpPr>
        <p:spPr>
          <a:xfrm>
            <a:off x="9052560" y="1371600"/>
            <a:ext cx="2606040" cy="2743200"/>
          </a:xfrm>
          <a:prstGeom prst="roundRect">
            <a:avLst>
              <a:gd name="adj" fmla="val 2807"/>
            </a:avLst>
          </a:prstGeom>
          <a:solidFill>
            <a:schemeClr val="bg2"/>
          </a:solidFill>
          <a:ln w="12700">
            <a:solidFill>
              <a:schemeClr val="bg2"/>
            </a:solidFill>
            <a:prstDash val="solid"/>
          </a:ln>
        </p:spPr>
      </p:sp>
      <p:sp>
        <p:nvSpPr>
          <p:cNvPr id="16" name="texte-172"/>
          <p:cNvSpPr txBox="1"/>
          <p:nvPr/>
        </p:nvSpPr>
        <p:spPr>
          <a:xfrm>
            <a:off x="9281160" y="1554480"/>
            <a:ext cx="219456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60</a:t>
            </a:r>
            <a:endParaRPr lang="en-US" sz="4800" dirty="0"/>
          </a:p>
        </p:txBody>
      </p:sp>
      <p:sp>
        <p:nvSpPr>
          <p:cNvPr id="17" name="texte-173"/>
          <p:cNvSpPr txBox="1"/>
          <p:nvPr/>
        </p:nvSpPr>
        <p:spPr>
          <a:xfrm>
            <a:off x="9281160" y="2514600"/>
            <a:ext cx="2194560" cy="457200"/>
          </a:xfrm>
          <a:prstGeom prst="rect">
            <a:avLst/>
          </a:prstGeom>
          <a:noFill/>
          <a:ln/>
        </p:spPr>
        <p:txBody>
          <a:bodyPr wrap="square" lIns="0" tIns="0" rIns="0" bIns="0" rtlCol="0" anchor="t"/>
          <a:lstStyle/>
          <a:p>
            <a:pPr indent="0" marL="0">
              <a:buNone/>
            </a:pPr>
            <a:r>
              <a:rPr lang="en-US" sz="1600" b="1" dirty="0">
                <a:solidFill>
                  <a:schemeClr val="tx2"/>
                </a:solidFill>
              </a:rPr>
              <a:t>assertions Newman</a:t>
            </a:r>
            <a:endParaRPr lang="en-US" sz="1600" dirty="0"/>
          </a:p>
        </p:txBody>
      </p:sp>
      <p:sp>
        <p:nvSpPr>
          <p:cNvPr id="18" name="texte-174"/>
          <p:cNvSpPr txBox="1"/>
          <p:nvPr/>
        </p:nvSpPr>
        <p:spPr>
          <a:xfrm>
            <a:off x="9281160" y="3017520"/>
            <a:ext cx="2194560" cy="914400"/>
          </a:xfrm>
          <a:prstGeom prst="rect">
            <a:avLst/>
          </a:prstGeom>
          <a:noFill/>
          <a:ln/>
        </p:spPr>
        <p:txBody>
          <a:bodyPr wrap="square" lIns="0" tIns="0" rIns="0" bIns="0" rtlCol="0" anchor="t"/>
          <a:lstStyle/>
          <a:p>
            <a:pPr indent="0" marL="0">
              <a:buNone/>
            </a:pPr>
            <a:r>
              <a:rPr lang="en-US" sz="1400" dirty="0">
                <a:solidFill>
                  <a:schemeClr val="tx1"/>
                </a:solidFill>
              </a:rPr>
              <a:t>30 requêtes de la collection Postman</a:t>
            </a:r>
            <a:endParaRPr lang="en-US" sz="1400" dirty="0"/>
          </a:p>
        </p:txBody>
      </p:sp>
      <p:sp>
        <p:nvSpPr>
          <p:cNvPr id="19" name="texte-175"/>
          <p:cNvSpPr txBox="1"/>
          <p:nvPr/>
        </p:nvSpPr>
        <p:spPr>
          <a:xfrm>
            <a:off x="548640" y="4343400"/>
            <a:ext cx="10972800" cy="411480"/>
          </a:xfrm>
          <a:prstGeom prst="rect">
            <a:avLst/>
          </a:prstGeom>
          <a:noFill/>
          <a:ln/>
        </p:spPr>
        <p:txBody>
          <a:bodyPr wrap="square" lIns="0" tIns="0" rIns="0" bIns="0" rtlCol="0" anchor="t"/>
          <a:lstStyle/>
          <a:p>
            <a:pPr indent="0" marL="0">
              <a:buNone/>
            </a:pPr>
            <a:r>
              <a:rPr lang="en-US" sz="1800" b="1" dirty="0">
                <a:solidFill>
                  <a:schemeClr val="tx2"/>
                </a:solidFill>
              </a:rPr>
              <a:t>Test de bout en bout de la chaîne principale</a:t>
            </a:r>
            <a:endParaRPr lang="en-US" sz="1800" dirty="0"/>
          </a:p>
        </p:txBody>
      </p:sp>
      <p:sp>
        <p:nvSpPr>
          <p:cNvPr id="20" name="texte-176"/>
          <p:cNvSpPr txBox="1"/>
          <p:nvPr/>
        </p:nvSpPr>
        <p:spPr>
          <a:xfrm>
            <a:off x="548640" y="4846320"/>
            <a:ext cx="2606040" cy="777240"/>
          </a:xfrm>
          <a:prstGeom prst="rect">
            <a:avLst/>
          </a:prstGeom>
          <a:noFill/>
          <a:ln/>
        </p:spPr>
        <p:txBody>
          <a:bodyPr wrap="square" lIns="0" tIns="0" rIns="0" bIns="0" rtlCol="0" anchor="t"/>
          <a:lstStyle/>
          <a:p>
            <a:pPr indent="0" marL="0">
              <a:buNone/>
            </a:pPr>
            <a:r>
              <a:rPr lang="en-US" sz="1400" b="1" dirty="0">
                <a:solidFill>
                  <a:schemeClr val="accent1"/>
                </a:solidFill>
              </a:rPr>
              <a:t>Chargement : </a:t>
            </a:r>
            <a:pPr indent="0" marL="0">
              <a:buNone/>
            </a:pPr>
            <a:r>
              <a:rPr lang="en-US" sz="1400" dirty="0">
                <a:solidFill>
                  <a:schemeClr val="tx1"/>
                </a:solidFill>
              </a:rPr>
              <a:t>711 ventes valides, 38 rejets, 4 contrôles conformes</a:t>
            </a:r>
            <a:endParaRPr lang="en-US" sz="1400" dirty="0"/>
          </a:p>
        </p:txBody>
      </p:sp>
      <p:sp>
        <p:nvSpPr>
          <p:cNvPr id="21" name="texte-177"/>
          <p:cNvSpPr txBox="1"/>
          <p:nvPr/>
        </p:nvSpPr>
        <p:spPr>
          <a:xfrm>
            <a:off x="3383280" y="4846320"/>
            <a:ext cx="2606040" cy="777240"/>
          </a:xfrm>
          <a:prstGeom prst="rect">
            <a:avLst/>
          </a:prstGeom>
          <a:noFill/>
          <a:ln/>
        </p:spPr>
        <p:txBody>
          <a:bodyPr wrap="square" lIns="0" tIns="0" rIns="0" bIns="0" rtlCol="0" anchor="t"/>
          <a:lstStyle/>
          <a:p>
            <a:pPr indent="0" marL="0">
              <a:buNone/>
            </a:pPr>
            <a:r>
              <a:rPr lang="en-US" sz="1400" b="1" dirty="0">
                <a:solidFill>
                  <a:schemeClr val="accent1"/>
                </a:solidFill>
              </a:rPr>
              <a:t>Rejeu : </a:t>
            </a:r>
            <a:pPr indent="0" marL="0">
              <a:buNone/>
            </a:pPr>
            <a:r>
              <a:rPr lang="en-US" sz="1400" dirty="0">
                <a:solidFill>
                  <a:schemeClr val="tx1"/>
                </a:solidFill>
              </a:rPr>
              <a:t>0 insertion, 0 mise à jour</a:t>
            </a:r>
            <a:endParaRPr lang="en-US" sz="1400" dirty="0"/>
          </a:p>
        </p:txBody>
      </p:sp>
      <p:sp>
        <p:nvSpPr>
          <p:cNvPr id="22" name="texte-178"/>
          <p:cNvSpPr txBox="1"/>
          <p:nvPr/>
        </p:nvSpPr>
        <p:spPr>
          <a:xfrm>
            <a:off x="6217920" y="4846320"/>
            <a:ext cx="2606040" cy="777240"/>
          </a:xfrm>
          <a:prstGeom prst="rect">
            <a:avLst/>
          </a:prstGeom>
          <a:noFill/>
          <a:ln/>
        </p:spPr>
        <p:txBody>
          <a:bodyPr wrap="square" lIns="0" tIns="0" rIns="0" bIns="0" rtlCol="0" anchor="t"/>
          <a:lstStyle/>
          <a:p>
            <a:pPr indent="0" marL="0">
              <a:buNone/>
            </a:pPr>
            <a:r>
              <a:rPr lang="en-US" sz="1400" b="1" dirty="0">
                <a:solidFill>
                  <a:schemeClr val="accent1"/>
                </a:solidFill>
              </a:rPr>
              <a:t>Correctif : </a:t>
            </a:r>
            <a:pPr indent="0" marL="0">
              <a:buNone/>
            </a:pPr>
            <a:r>
              <a:rPr lang="en-US" sz="1400" dirty="0">
                <a:solidFill>
                  <a:schemeClr val="tx1"/>
                </a:solidFill>
              </a:rPr>
              <a:t>3 mises à jour, 2 insertions</a:t>
            </a:r>
            <a:endParaRPr lang="en-US" sz="1400" dirty="0"/>
          </a:p>
        </p:txBody>
      </p:sp>
      <p:sp>
        <p:nvSpPr>
          <p:cNvPr id="23" name="texte-179"/>
          <p:cNvSpPr txBox="1"/>
          <p:nvPr/>
        </p:nvSpPr>
        <p:spPr>
          <a:xfrm>
            <a:off x="9052560" y="4846320"/>
            <a:ext cx="2606040" cy="777240"/>
          </a:xfrm>
          <a:prstGeom prst="rect">
            <a:avLst/>
          </a:prstGeom>
          <a:noFill/>
          <a:ln/>
        </p:spPr>
        <p:txBody>
          <a:bodyPr wrap="square" lIns="0" tIns="0" rIns="0" bIns="0" rtlCol="0" anchor="t"/>
          <a:lstStyle/>
          <a:p>
            <a:pPr indent="0" marL="0">
              <a:buNone/>
            </a:pPr>
            <a:r>
              <a:rPr lang="en-US" sz="1400" b="1" dirty="0">
                <a:solidFill>
                  <a:schemeClr val="accent1"/>
                </a:solidFill>
              </a:rPr>
              <a:t>ELK : </a:t>
            </a:r>
            <a:pPr indent="0" marL="0">
              <a:buNone/>
            </a:pPr>
            <a:r>
              <a:rPr lang="en-US" sz="1400" dirty="0">
                <a:solidFill>
                  <a:schemeClr val="tx1"/>
                </a:solidFill>
              </a:rPr>
              <a:t>erreurs et bilans indexés</a:t>
            </a:r>
            <a:endParaRPr lang="en-US" sz="1400" dirty="0"/>
          </a:p>
        </p:txBody>
      </p:sp>
      <p:sp>
        <p:nvSpPr>
          <p:cNvPr id="24" name="texte-180"/>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400" i="1" dirty="0">
                <a:solidFill>
                  <a:schemeClr val="accent5"/>
                </a:solidFill>
              </a:rPr>
              <a:t>Une seule commande : ./scripts/lancer-tests.sh</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Pannes simulées : la chaîne se rétablit seule</a:t>
            </a:r>
            <a:endParaRPr lang="en-US" sz="3200" dirty="0"/>
          </a:p>
        </p:txBody>
      </p:sp>
      <p:sp>
        <p:nvSpPr>
          <p:cNvPr id="3" name="carte-181"/>
          <p:cNvSpPr/>
          <p:nvPr/>
        </p:nvSpPr>
        <p:spPr>
          <a:xfrm>
            <a:off x="548640" y="1371600"/>
            <a:ext cx="5394960" cy="4023360"/>
          </a:xfrm>
          <a:prstGeom prst="roundRect">
            <a:avLst>
              <a:gd name="adj" fmla="val 1818"/>
            </a:avLst>
          </a:prstGeom>
          <a:solidFill>
            <a:schemeClr val="bg2"/>
          </a:solidFill>
          <a:ln w="12700">
            <a:solidFill>
              <a:schemeClr val="bg2"/>
            </a:solidFill>
            <a:prstDash val="solid"/>
          </a:ln>
        </p:spPr>
      </p:sp>
      <p:sp>
        <p:nvSpPr>
          <p:cNvPr id="4" name="texte-182"/>
          <p:cNvSpPr txBox="1"/>
          <p:nvPr/>
        </p:nvSpPr>
        <p:spPr>
          <a:xfrm>
            <a:off x="822960" y="1554480"/>
            <a:ext cx="4846320" cy="45720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MongoDB arrêté pendant l'API</a:t>
            </a:r>
            <a:endParaRPr lang="en-US" sz="1900" dirty="0"/>
          </a:p>
        </p:txBody>
      </p:sp>
      <p:sp>
        <p:nvSpPr>
          <p:cNvPr id="5" name="pastille-183"/>
          <p:cNvSpPr/>
          <p:nvPr/>
        </p:nvSpPr>
        <p:spPr>
          <a:xfrm>
            <a:off x="822960" y="2240280"/>
            <a:ext cx="411480" cy="411480"/>
          </a:xfrm>
          <a:prstGeom prst="ellipse">
            <a:avLst/>
          </a:prstGeom>
          <a:solidFill>
            <a:schemeClr val="accent3"/>
          </a:solidFill>
          <a:ln w="12700">
            <a:solidFill>
              <a:schemeClr val="accent3"/>
            </a:solidFill>
            <a:prstDash val="solid"/>
          </a:ln>
        </p:spPr>
      </p:sp>
      <p:sp>
        <p:nvSpPr>
          <p:cNvPr id="6" name="numero-184"/>
          <p:cNvSpPr txBox="1"/>
          <p:nvPr/>
        </p:nvSpPr>
        <p:spPr>
          <a:xfrm>
            <a:off x="822960"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e-185"/>
          <p:cNvSpPr txBox="1"/>
          <p:nvPr/>
        </p:nvSpPr>
        <p:spPr>
          <a:xfrm>
            <a:off x="1417320" y="2194560"/>
            <a:ext cx="4206240" cy="320040"/>
          </a:xfrm>
          <a:prstGeom prst="rect">
            <a:avLst/>
          </a:prstGeom>
          <a:noFill/>
          <a:ln/>
        </p:spPr>
        <p:txBody>
          <a:bodyPr wrap="square" lIns="0" tIns="0" rIns="0" bIns="0" rtlCol="0" anchor="t"/>
          <a:lstStyle/>
          <a:p>
            <a:pPr indent="0" marL="0">
              <a:buNone/>
            </a:pPr>
            <a:r>
              <a:rPr lang="en-US" sz="1500" b="1" dirty="0">
                <a:solidFill>
                  <a:schemeClr val="tx1"/>
                </a:solidFill>
              </a:rPr>
              <a:t>Requête</a:t>
            </a:r>
            <a:endParaRPr lang="en-US" sz="1500" dirty="0"/>
          </a:p>
        </p:txBody>
      </p:sp>
      <p:sp>
        <p:nvSpPr>
          <p:cNvPr id="8" name="texte-186"/>
          <p:cNvSpPr txBox="1"/>
          <p:nvPr/>
        </p:nvSpPr>
        <p:spPr>
          <a:xfrm>
            <a:off x="1417320" y="2532888"/>
            <a:ext cx="4206240" cy="548640"/>
          </a:xfrm>
          <a:prstGeom prst="rect">
            <a:avLst/>
          </a:prstGeom>
          <a:noFill/>
          <a:ln/>
        </p:spPr>
        <p:txBody>
          <a:bodyPr wrap="square" lIns="0" tIns="0" rIns="0" bIns="0" rtlCol="0" anchor="t"/>
          <a:lstStyle/>
          <a:p>
            <a:pPr indent="0" marL="0">
              <a:buNone/>
            </a:pPr>
            <a:r>
              <a:rPr lang="en-US" sz="1400" dirty="0">
                <a:solidFill>
                  <a:schemeClr val="tx1"/>
                </a:solidFill>
              </a:rPr>
              <a:t>503 BASE_INDISPONIBLE, Retry-After : 10</a:t>
            </a:r>
            <a:endParaRPr lang="en-US" sz="1400" dirty="0"/>
          </a:p>
        </p:txBody>
      </p:sp>
      <p:sp>
        <p:nvSpPr>
          <p:cNvPr id="9" name="pastille-187"/>
          <p:cNvSpPr/>
          <p:nvPr/>
        </p:nvSpPr>
        <p:spPr>
          <a:xfrm>
            <a:off x="822960" y="3246120"/>
            <a:ext cx="411480" cy="411480"/>
          </a:xfrm>
          <a:prstGeom prst="ellipse">
            <a:avLst/>
          </a:prstGeom>
          <a:solidFill>
            <a:schemeClr val="accent3"/>
          </a:solidFill>
          <a:ln w="12700">
            <a:solidFill>
              <a:schemeClr val="accent3"/>
            </a:solidFill>
            <a:prstDash val="solid"/>
          </a:ln>
        </p:spPr>
      </p:sp>
      <p:sp>
        <p:nvSpPr>
          <p:cNvPr id="10" name="numero-188"/>
          <p:cNvSpPr txBox="1"/>
          <p:nvPr/>
        </p:nvSpPr>
        <p:spPr>
          <a:xfrm>
            <a:off x="822960" y="32461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e-189"/>
          <p:cNvSpPr txBox="1"/>
          <p:nvPr/>
        </p:nvSpPr>
        <p:spPr>
          <a:xfrm>
            <a:off x="1417320" y="3200400"/>
            <a:ext cx="4206240" cy="320040"/>
          </a:xfrm>
          <a:prstGeom prst="rect">
            <a:avLst/>
          </a:prstGeom>
          <a:noFill/>
          <a:ln/>
        </p:spPr>
        <p:txBody>
          <a:bodyPr wrap="square" lIns="0" tIns="0" rIns="0" bIns="0" rtlCol="0" anchor="t"/>
          <a:lstStyle/>
          <a:p>
            <a:pPr indent="0" marL="0">
              <a:buNone/>
            </a:pPr>
            <a:r>
              <a:rPr lang="en-US" sz="1500" b="1" dirty="0">
                <a:solidFill>
                  <a:schemeClr val="tx1"/>
                </a:solidFill>
              </a:rPr>
              <a:t>Journaux</a:t>
            </a:r>
            <a:endParaRPr lang="en-US" sz="1500" dirty="0"/>
          </a:p>
        </p:txBody>
      </p:sp>
      <p:sp>
        <p:nvSpPr>
          <p:cNvPr id="12" name="texte-190"/>
          <p:cNvSpPr txBox="1"/>
          <p:nvPr/>
        </p:nvSpPr>
        <p:spPr>
          <a:xfrm>
            <a:off x="1417320" y="3538728"/>
            <a:ext cx="4206240" cy="548640"/>
          </a:xfrm>
          <a:prstGeom prst="rect">
            <a:avLst/>
          </a:prstGeom>
          <a:noFill/>
          <a:ln/>
        </p:spPr>
        <p:txBody>
          <a:bodyPr wrap="square" lIns="0" tIns="0" rIns="0" bIns="0" rtlCol="0" anchor="t"/>
          <a:lstStyle/>
          <a:p>
            <a:pPr indent="0" marL="0">
              <a:buNone/>
            </a:pPr>
            <a:r>
              <a:rPr lang="en-US" sz="1400" dirty="0">
                <a:solidFill>
                  <a:schemeClr val="tx1"/>
                </a:solidFill>
              </a:rPr>
              <a:t>Perte de connexion visible dans Kibana</a:t>
            </a:r>
            <a:endParaRPr lang="en-US" sz="1400" dirty="0"/>
          </a:p>
        </p:txBody>
      </p:sp>
      <p:sp>
        <p:nvSpPr>
          <p:cNvPr id="13" name="pastille-191"/>
          <p:cNvSpPr/>
          <p:nvPr/>
        </p:nvSpPr>
        <p:spPr>
          <a:xfrm>
            <a:off x="822960" y="4251960"/>
            <a:ext cx="411480" cy="411480"/>
          </a:xfrm>
          <a:prstGeom prst="ellipse">
            <a:avLst/>
          </a:prstGeom>
          <a:solidFill>
            <a:schemeClr val="accent4"/>
          </a:solidFill>
          <a:ln w="12700">
            <a:solidFill>
              <a:schemeClr val="accent4"/>
            </a:solidFill>
            <a:prstDash val="solid"/>
          </a:ln>
        </p:spPr>
      </p:sp>
      <p:sp>
        <p:nvSpPr>
          <p:cNvPr id="14" name="numero-192"/>
          <p:cNvSpPr txBox="1"/>
          <p:nvPr/>
        </p:nvSpPr>
        <p:spPr>
          <a:xfrm>
            <a:off x="822960" y="4251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e-193"/>
          <p:cNvSpPr txBox="1"/>
          <p:nvPr/>
        </p:nvSpPr>
        <p:spPr>
          <a:xfrm>
            <a:off x="1417320" y="4206240"/>
            <a:ext cx="4206240" cy="320040"/>
          </a:xfrm>
          <a:prstGeom prst="rect">
            <a:avLst/>
          </a:prstGeom>
          <a:noFill/>
          <a:ln/>
        </p:spPr>
        <p:txBody>
          <a:bodyPr wrap="square" lIns="0" tIns="0" rIns="0" bIns="0" rtlCol="0" anchor="t"/>
          <a:lstStyle/>
          <a:p>
            <a:pPr indent="0" marL="0">
              <a:buNone/>
            </a:pPr>
            <a:r>
              <a:rPr lang="en-US" sz="1500" b="1" dirty="0">
                <a:solidFill>
                  <a:schemeClr val="tx1"/>
                </a:solidFill>
              </a:rPr>
              <a:t>Redémarrage</a:t>
            </a:r>
            <a:endParaRPr lang="en-US" sz="1500" dirty="0"/>
          </a:p>
        </p:txBody>
      </p:sp>
      <p:sp>
        <p:nvSpPr>
          <p:cNvPr id="16" name="texte-194"/>
          <p:cNvSpPr txBox="1"/>
          <p:nvPr/>
        </p:nvSpPr>
        <p:spPr>
          <a:xfrm>
            <a:off x="1417320" y="4544568"/>
            <a:ext cx="4206240" cy="548640"/>
          </a:xfrm>
          <a:prstGeom prst="rect">
            <a:avLst/>
          </a:prstGeom>
          <a:noFill/>
          <a:ln/>
        </p:spPr>
        <p:txBody>
          <a:bodyPr wrap="square" lIns="0" tIns="0" rIns="0" bIns="0" rtlCol="0" anchor="t"/>
          <a:lstStyle/>
          <a:p>
            <a:pPr indent="0" marL="0">
              <a:buNone/>
            </a:pPr>
            <a:r>
              <a:rPr lang="en-US" sz="1400" dirty="0">
                <a:solidFill>
                  <a:schemeClr val="tx1"/>
                </a:solidFill>
              </a:rPr>
              <a:t>Reconnexion automatique, 200 sans relancer l'API</a:t>
            </a:r>
            <a:endParaRPr lang="en-US" sz="1400" dirty="0"/>
          </a:p>
        </p:txBody>
      </p:sp>
      <p:sp>
        <p:nvSpPr>
          <p:cNvPr id="17" name="carte-195"/>
          <p:cNvSpPr/>
          <p:nvPr/>
        </p:nvSpPr>
        <p:spPr>
          <a:xfrm>
            <a:off x="6217920" y="1371600"/>
            <a:ext cx="5394960" cy="4023360"/>
          </a:xfrm>
          <a:prstGeom prst="roundRect">
            <a:avLst>
              <a:gd name="adj" fmla="val 1818"/>
            </a:avLst>
          </a:prstGeom>
          <a:solidFill>
            <a:schemeClr val="bg2"/>
          </a:solidFill>
          <a:ln w="12700">
            <a:solidFill>
              <a:schemeClr val="bg2"/>
            </a:solidFill>
            <a:prstDash val="solid"/>
          </a:ln>
        </p:spPr>
      </p:sp>
      <p:sp>
        <p:nvSpPr>
          <p:cNvPr id="18" name="texte-196"/>
          <p:cNvSpPr txBox="1"/>
          <p:nvPr/>
        </p:nvSpPr>
        <p:spPr>
          <a:xfrm>
            <a:off x="6492240" y="1554480"/>
            <a:ext cx="4846320" cy="45720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MongoDB arrêté pendant le DAG</a:t>
            </a:r>
            <a:endParaRPr lang="en-US" sz="1900" dirty="0"/>
          </a:p>
        </p:txBody>
      </p:sp>
      <p:sp>
        <p:nvSpPr>
          <p:cNvPr id="19" name="pastille-197"/>
          <p:cNvSpPr/>
          <p:nvPr/>
        </p:nvSpPr>
        <p:spPr>
          <a:xfrm>
            <a:off x="6492240" y="2240280"/>
            <a:ext cx="411480" cy="411480"/>
          </a:xfrm>
          <a:prstGeom prst="ellipse">
            <a:avLst/>
          </a:prstGeom>
          <a:solidFill>
            <a:schemeClr val="accent3"/>
          </a:solidFill>
          <a:ln w="12700">
            <a:solidFill>
              <a:schemeClr val="accent3"/>
            </a:solidFill>
            <a:prstDash val="solid"/>
          </a:ln>
        </p:spPr>
      </p:sp>
      <p:sp>
        <p:nvSpPr>
          <p:cNvPr id="20" name="numero-198"/>
          <p:cNvSpPr txBox="1"/>
          <p:nvPr/>
        </p:nvSpPr>
        <p:spPr>
          <a:xfrm>
            <a:off x="6492240"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e-199"/>
          <p:cNvSpPr txBox="1"/>
          <p:nvPr/>
        </p:nvSpPr>
        <p:spPr>
          <a:xfrm>
            <a:off x="7086600" y="2194560"/>
            <a:ext cx="4206240" cy="320040"/>
          </a:xfrm>
          <a:prstGeom prst="rect">
            <a:avLst/>
          </a:prstGeom>
          <a:noFill/>
          <a:ln/>
        </p:spPr>
        <p:txBody>
          <a:bodyPr wrap="square" lIns="0" tIns="0" rIns="0" bIns="0" rtlCol="0" anchor="t"/>
          <a:lstStyle/>
          <a:p>
            <a:pPr indent="0" marL="0">
              <a:buNone/>
            </a:pPr>
            <a:r>
              <a:rPr lang="en-US" sz="1500" b="1" dirty="0">
                <a:solidFill>
                  <a:schemeClr val="tx1"/>
                </a:solidFill>
              </a:rPr>
              <a:t>Exécution</a:t>
            </a:r>
            <a:endParaRPr lang="en-US" sz="1500" dirty="0"/>
          </a:p>
        </p:txBody>
      </p:sp>
      <p:sp>
        <p:nvSpPr>
          <p:cNvPr id="22" name="texte-200"/>
          <p:cNvSpPr txBox="1"/>
          <p:nvPr/>
        </p:nvSpPr>
        <p:spPr>
          <a:xfrm>
            <a:off x="7086600" y="2532888"/>
            <a:ext cx="4206240" cy="548640"/>
          </a:xfrm>
          <a:prstGeom prst="rect">
            <a:avLst/>
          </a:prstGeom>
          <a:noFill/>
          <a:ln/>
        </p:spPr>
        <p:txBody>
          <a:bodyPr wrap="square" lIns="0" tIns="0" rIns="0" bIns="0" rtlCol="0" anchor="t"/>
          <a:lstStyle/>
          <a:p>
            <a:pPr indent="0" marL="0">
              <a:buNone/>
            </a:pPr>
            <a:r>
              <a:rPr lang="en-US" sz="1400" dirty="0">
                <a:solidFill>
                  <a:schemeClr val="tx1"/>
                </a:solidFill>
              </a:rPr>
              <a:t>traiter_clients échoue après 3 tentatives</a:t>
            </a:r>
            <a:endParaRPr lang="en-US" sz="1400" dirty="0"/>
          </a:p>
        </p:txBody>
      </p:sp>
      <p:sp>
        <p:nvSpPr>
          <p:cNvPr id="23" name="pastille-201"/>
          <p:cNvSpPr/>
          <p:nvPr/>
        </p:nvSpPr>
        <p:spPr>
          <a:xfrm>
            <a:off x="6492240" y="3246120"/>
            <a:ext cx="411480" cy="411480"/>
          </a:xfrm>
          <a:prstGeom prst="ellipse">
            <a:avLst/>
          </a:prstGeom>
          <a:solidFill>
            <a:schemeClr val="accent3"/>
          </a:solidFill>
          <a:ln w="12700">
            <a:solidFill>
              <a:schemeClr val="accent3"/>
            </a:solidFill>
            <a:prstDash val="solid"/>
          </a:ln>
        </p:spPr>
      </p:sp>
      <p:sp>
        <p:nvSpPr>
          <p:cNvPr id="24" name="numero-202"/>
          <p:cNvSpPr txBox="1"/>
          <p:nvPr/>
        </p:nvSpPr>
        <p:spPr>
          <a:xfrm>
            <a:off x="6492240" y="32461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texte-203"/>
          <p:cNvSpPr txBox="1"/>
          <p:nvPr/>
        </p:nvSpPr>
        <p:spPr>
          <a:xfrm>
            <a:off x="7086600" y="3200400"/>
            <a:ext cx="4206240" cy="320040"/>
          </a:xfrm>
          <a:prstGeom prst="rect">
            <a:avLst/>
          </a:prstGeom>
          <a:noFill/>
          <a:ln/>
        </p:spPr>
        <p:txBody>
          <a:bodyPr wrap="square" lIns="0" tIns="0" rIns="0" bIns="0" rtlCol="0" anchor="t"/>
          <a:lstStyle/>
          <a:p>
            <a:pPr indent="0" marL="0">
              <a:buNone/>
            </a:pPr>
            <a:r>
              <a:rPr lang="en-US" sz="1500" b="1" dirty="0">
                <a:solidFill>
                  <a:schemeClr val="tx1"/>
                </a:solidFill>
              </a:rPr>
              <a:t>Bilan</a:t>
            </a:r>
            <a:endParaRPr lang="en-US" sz="1500" dirty="0"/>
          </a:p>
        </p:txBody>
      </p:sp>
      <p:sp>
        <p:nvSpPr>
          <p:cNvPr id="26" name="texte-204"/>
          <p:cNvSpPr txBox="1"/>
          <p:nvPr/>
        </p:nvSpPr>
        <p:spPr>
          <a:xfrm>
            <a:off x="7086600" y="3538728"/>
            <a:ext cx="4206240" cy="548640"/>
          </a:xfrm>
          <a:prstGeom prst="rect">
            <a:avLst/>
          </a:prstGeom>
          <a:noFill/>
          <a:ln/>
        </p:spPr>
        <p:txBody>
          <a:bodyPr wrap="square" lIns="0" tIns="0" rIns="0" bIns="0" rtlCol="0" anchor="t"/>
          <a:lstStyle/>
          <a:p>
            <a:pPr indent="0" marL="0">
              <a:buNone/>
            </a:pPr>
            <a:r>
              <a:rPr lang="en-US" sz="1400" dirty="0">
                <a:solidFill>
                  <a:schemeClr val="tx1"/>
                </a:solidFill>
              </a:rPr>
              <a:t>Exécution enregistrée en ECHEC</a:t>
            </a:r>
            <a:endParaRPr lang="en-US" sz="1400" dirty="0"/>
          </a:p>
        </p:txBody>
      </p:sp>
      <p:sp>
        <p:nvSpPr>
          <p:cNvPr id="27" name="pastille-205"/>
          <p:cNvSpPr/>
          <p:nvPr/>
        </p:nvSpPr>
        <p:spPr>
          <a:xfrm>
            <a:off x="6492240" y="4251960"/>
            <a:ext cx="411480" cy="411480"/>
          </a:xfrm>
          <a:prstGeom prst="ellipse">
            <a:avLst/>
          </a:prstGeom>
          <a:solidFill>
            <a:schemeClr val="accent4"/>
          </a:solidFill>
          <a:ln w="12700">
            <a:solidFill>
              <a:schemeClr val="accent4"/>
            </a:solidFill>
            <a:prstDash val="solid"/>
          </a:ln>
        </p:spPr>
      </p:sp>
      <p:sp>
        <p:nvSpPr>
          <p:cNvPr id="28" name="numero-206"/>
          <p:cNvSpPr txBox="1"/>
          <p:nvPr/>
        </p:nvSpPr>
        <p:spPr>
          <a:xfrm>
            <a:off x="6492240" y="4251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9" name="texte-207"/>
          <p:cNvSpPr txBox="1"/>
          <p:nvPr/>
        </p:nvSpPr>
        <p:spPr>
          <a:xfrm>
            <a:off x="7086600" y="4206240"/>
            <a:ext cx="4206240" cy="320040"/>
          </a:xfrm>
          <a:prstGeom prst="rect">
            <a:avLst/>
          </a:prstGeom>
          <a:noFill/>
          <a:ln/>
        </p:spPr>
        <p:txBody>
          <a:bodyPr wrap="square" lIns="0" tIns="0" rIns="0" bIns="0" rtlCol="0" anchor="t"/>
          <a:lstStyle/>
          <a:p>
            <a:pPr indent="0" marL="0">
              <a:buNone/>
            </a:pPr>
            <a:r>
              <a:rPr lang="en-US" sz="1500" b="1" dirty="0">
                <a:solidFill>
                  <a:schemeClr val="tx1"/>
                </a:solidFill>
              </a:rPr>
              <a:t>Relance (Clear)</a:t>
            </a:r>
            <a:endParaRPr lang="en-US" sz="1500" dirty="0"/>
          </a:p>
        </p:txBody>
      </p:sp>
      <p:sp>
        <p:nvSpPr>
          <p:cNvPr id="30" name="texte-208"/>
          <p:cNvSpPr txBox="1"/>
          <p:nvPr/>
        </p:nvSpPr>
        <p:spPr>
          <a:xfrm>
            <a:off x="7086600" y="4544568"/>
            <a:ext cx="4206240" cy="548640"/>
          </a:xfrm>
          <a:prstGeom prst="rect">
            <a:avLst/>
          </a:prstGeom>
          <a:noFill/>
          <a:ln/>
        </p:spPr>
        <p:txBody>
          <a:bodyPr wrap="square" lIns="0" tIns="0" rIns="0" bIns="0" rtlCol="0" anchor="t"/>
          <a:lstStyle/>
          <a:p>
            <a:pPr indent="0" marL="0">
              <a:buNone/>
            </a:pPr>
            <a:r>
              <a:rPr lang="en-US" sz="1400" dirty="0">
                <a:solidFill>
                  <a:schemeClr val="tx1"/>
                </a:solidFill>
              </a:rPr>
              <a:t>Succès : 0 écriture, 711 ventes inchangées</a:t>
            </a:r>
            <a:endParaRPr lang="en-US" sz="1400" dirty="0"/>
          </a:p>
        </p:txBody>
      </p:sp>
      <p:sp>
        <p:nvSpPr>
          <p:cNvPr id="31" name="texte-209"/>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400" i="1" dirty="0">
                <a:solidFill>
                  <a:schemeClr val="tx2"/>
                </a:solidFill>
              </a:rPr>
              <a:t>Fichier source mal formé : échec immédiat de la tâche extraire, sans nouvelle tentative inutile, avec la liste des colonnes manquantes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Démonstration en direct</a:t>
            </a:r>
            <a:endParaRPr lang="en-US" sz="3200" dirty="0"/>
          </a:p>
        </p:txBody>
      </p:sp>
      <p:sp>
        <p:nvSpPr>
          <p:cNvPr id="3" name="carte-210"/>
          <p:cNvSpPr/>
          <p:nvPr/>
        </p:nvSpPr>
        <p:spPr>
          <a:xfrm>
            <a:off x="548640" y="1371600"/>
            <a:ext cx="3520440" cy="2103120"/>
          </a:xfrm>
          <a:prstGeom prst="roundRect">
            <a:avLst>
              <a:gd name="adj" fmla="val 3478"/>
            </a:avLst>
          </a:prstGeom>
          <a:solidFill>
            <a:schemeClr val="bg2"/>
          </a:solidFill>
          <a:ln w="12700">
            <a:solidFill>
              <a:schemeClr val="bg2"/>
            </a:solidFill>
            <a:prstDash val="solid"/>
          </a:ln>
        </p:spPr>
      </p:sp>
      <p:sp>
        <p:nvSpPr>
          <p:cNvPr id="4" name="pastille-211"/>
          <p:cNvSpPr/>
          <p:nvPr/>
        </p:nvSpPr>
        <p:spPr>
          <a:xfrm>
            <a:off x="822960" y="1645920"/>
            <a:ext cx="502920" cy="502920"/>
          </a:xfrm>
          <a:prstGeom prst="ellipse">
            <a:avLst/>
          </a:prstGeom>
          <a:solidFill>
            <a:schemeClr val="accent1"/>
          </a:solidFill>
          <a:ln w="12700">
            <a:solidFill>
              <a:schemeClr val="accent1"/>
            </a:solidFill>
            <a:prstDash val="solid"/>
          </a:ln>
        </p:spPr>
      </p:sp>
      <p:sp>
        <p:nvSpPr>
          <p:cNvPr id="5" name="numero-212"/>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e-213"/>
          <p:cNvSpPr txBox="1"/>
          <p:nvPr/>
        </p:nvSpPr>
        <p:spPr>
          <a:xfrm>
            <a:off x="1508760" y="1645920"/>
            <a:ext cx="2377440" cy="502920"/>
          </a:xfrm>
          <a:prstGeom prst="rect">
            <a:avLst/>
          </a:prstGeom>
          <a:noFill/>
          <a:ln/>
        </p:spPr>
        <p:txBody>
          <a:bodyPr wrap="square" lIns="0" tIns="0" rIns="0" bIns="0" rtlCol="0" anchor="ctr"/>
          <a:lstStyle/>
          <a:p>
            <a:pPr indent="0" marL="0">
              <a:buNone/>
            </a:pPr>
            <a:r>
              <a:rPr lang="en-US" sz="1800" b="1" dirty="0">
                <a:solidFill>
                  <a:schemeClr val="tx2"/>
                </a:solidFill>
              </a:rPr>
              <a:t>Démarrer</a:t>
            </a:r>
            <a:endParaRPr lang="en-US" sz="1800" dirty="0"/>
          </a:p>
        </p:txBody>
      </p:sp>
      <p:sp>
        <p:nvSpPr>
          <p:cNvPr id="7" name="texte-214"/>
          <p:cNvSpPr txBox="1"/>
          <p:nvPr/>
        </p:nvSpPr>
        <p:spPr>
          <a:xfrm>
            <a:off x="822960" y="2331720"/>
            <a:ext cx="3017520" cy="45720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docker compose up -d --build</a:t>
            </a:r>
            <a:endParaRPr lang="en-US" sz="1400" dirty="0"/>
          </a:p>
        </p:txBody>
      </p:sp>
      <p:sp>
        <p:nvSpPr>
          <p:cNvPr id="8" name="texte-215"/>
          <p:cNvSpPr txBox="1"/>
          <p:nvPr/>
        </p:nvSpPr>
        <p:spPr>
          <a:xfrm>
            <a:off x="822960" y="2834640"/>
            <a:ext cx="3017520" cy="411480"/>
          </a:xfrm>
          <a:prstGeom prst="rect">
            <a:avLst/>
          </a:prstGeom>
          <a:noFill/>
          <a:ln/>
        </p:spPr>
        <p:txBody>
          <a:bodyPr wrap="square" lIns="0" tIns="0" rIns="0" bIns="0" rtlCol="0" anchor="t"/>
          <a:lstStyle/>
          <a:p>
            <a:pPr indent="0" marL="0">
              <a:buNone/>
            </a:pPr>
            <a:r>
              <a:rPr lang="en-US" sz="1500" dirty="0">
                <a:solidFill>
                  <a:schemeClr val="tx1"/>
                </a:solidFill>
              </a:rPr>
              <a:t>11 conteneurs sains</a:t>
            </a:r>
            <a:endParaRPr lang="en-US" sz="1500" dirty="0"/>
          </a:p>
        </p:txBody>
      </p:sp>
      <p:sp>
        <p:nvSpPr>
          <p:cNvPr id="9" name="carte-216"/>
          <p:cNvSpPr/>
          <p:nvPr/>
        </p:nvSpPr>
        <p:spPr>
          <a:xfrm>
            <a:off x="4334256" y="1371600"/>
            <a:ext cx="3520440" cy="2103120"/>
          </a:xfrm>
          <a:prstGeom prst="roundRect">
            <a:avLst>
              <a:gd name="adj" fmla="val 3478"/>
            </a:avLst>
          </a:prstGeom>
          <a:solidFill>
            <a:schemeClr val="bg2"/>
          </a:solidFill>
          <a:ln w="12700">
            <a:solidFill>
              <a:schemeClr val="bg2"/>
            </a:solidFill>
            <a:prstDash val="solid"/>
          </a:ln>
        </p:spPr>
      </p:sp>
      <p:sp>
        <p:nvSpPr>
          <p:cNvPr id="10" name="pastille-217"/>
          <p:cNvSpPr/>
          <p:nvPr/>
        </p:nvSpPr>
        <p:spPr>
          <a:xfrm>
            <a:off x="4608576" y="1645920"/>
            <a:ext cx="502920" cy="502920"/>
          </a:xfrm>
          <a:prstGeom prst="ellipse">
            <a:avLst/>
          </a:prstGeom>
          <a:solidFill>
            <a:schemeClr val="accent1"/>
          </a:solidFill>
          <a:ln w="12700">
            <a:solidFill>
              <a:schemeClr val="accent1"/>
            </a:solidFill>
            <a:prstDash val="solid"/>
          </a:ln>
        </p:spPr>
      </p:sp>
      <p:sp>
        <p:nvSpPr>
          <p:cNvPr id="11" name="numero-218"/>
          <p:cNvSpPr txBox="1"/>
          <p:nvPr/>
        </p:nvSpPr>
        <p:spPr>
          <a:xfrm>
            <a:off x="4608576"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e-219"/>
          <p:cNvSpPr txBox="1"/>
          <p:nvPr/>
        </p:nvSpPr>
        <p:spPr>
          <a:xfrm>
            <a:off x="5294376" y="1645920"/>
            <a:ext cx="2377440" cy="502920"/>
          </a:xfrm>
          <a:prstGeom prst="rect">
            <a:avLst/>
          </a:prstGeom>
          <a:noFill/>
          <a:ln/>
        </p:spPr>
        <p:txBody>
          <a:bodyPr wrap="square" lIns="0" tIns="0" rIns="0" bIns="0" rtlCol="0" anchor="ctr"/>
          <a:lstStyle/>
          <a:p>
            <a:pPr indent="0" marL="0">
              <a:buNone/>
            </a:pPr>
            <a:r>
              <a:rPr lang="en-US" sz="1800" b="1" dirty="0">
                <a:solidFill>
                  <a:schemeClr val="tx2"/>
                </a:solidFill>
              </a:rPr>
              <a:t>Charger</a:t>
            </a:r>
            <a:endParaRPr lang="en-US" sz="1800" dirty="0"/>
          </a:p>
        </p:txBody>
      </p:sp>
      <p:sp>
        <p:nvSpPr>
          <p:cNvPr id="13" name="texte-220"/>
          <p:cNvSpPr txBox="1"/>
          <p:nvPr/>
        </p:nvSpPr>
        <p:spPr>
          <a:xfrm>
            <a:off x="4608576" y="2331720"/>
            <a:ext cx="3017520" cy="45720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localhost:8080</a:t>
            </a:r>
            <a:endParaRPr lang="en-US" sz="1400" dirty="0"/>
          </a:p>
        </p:txBody>
      </p:sp>
      <p:sp>
        <p:nvSpPr>
          <p:cNvPr id="14" name="texte-221"/>
          <p:cNvSpPr txBox="1"/>
          <p:nvPr/>
        </p:nvSpPr>
        <p:spPr>
          <a:xfrm>
            <a:off x="4608576" y="2834640"/>
            <a:ext cx="3017520" cy="411480"/>
          </a:xfrm>
          <a:prstGeom prst="rect">
            <a:avLst/>
          </a:prstGeom>
          <a:noFill/>
          <a:ln/>
        </p:spPr>
        <p:txBody>
          <a:bodyPr wrap="square" lIns="0" tIns="0" rIns="0" bIns="0" rtlCol="0" anchor="t"/>
          <a:lstStyle/>
          <a:p>
            <a:pPr indent="0" marL="0">
              <a:buNone/>
            </a:pPr>
            <a:r>
              <a:rPr lang="en-US" sz="1500" dirty="0">
                <a:solidFill>
                  <a:schemeClr val="tx1"/>
                </a:solidFill>
              </a:rPr>
              <a:t>Airflow : déclencher ventes_etl</a:t>
            </a:r>
            <a:endParaRPr lang="en-US" sz="1500" dirty="0"/>
          </a:p>
        </p:txBody>
      </p:sp>
      <p:sp>
        <p:nvSpPr>
          <p:cNvPr id="15" name="carte-222"/>
          <p:cNvSpPr/>
          <p:nvPr/>
        </p:nvSpPr>
        <p:spPr>
          <a:xfrm>
            <a:off x="8119872" y="1371600"/>
            <a:ext cx="3520440" cy="2103120"/>
          </a:xfrm>
          <a:prstGeom prst="roundRect">
            <a:avLst>
              <a:gd name="adj" fmla="val 3478"/>
            </a:avLst>
          </a:prstGeom>
          <a:solidFill>
            <a:schemeClr val="bg2"/>
          </a:solidFill>
          <a:ln w="12700">
            <a:solidFill>
              <a:schemeClr val="bg2"/>
            </a:solidFill>
            <a:prstDash val="solid"/>
          </a:ln>
        </p:spPr>
      </p:sp>
      <p:sp>
        <p:nvSpPr>
          <p:cNvPr id="16" name="pastille-223"/>
          <p:cNvSpPr/>
          <p:nvPr/>
        </p:nvSpPr>
        <p:spPr>
          <a:xfrm>
            <a:off x="8394192" y="1645920"/>
            <a:ext cx="502920" cy="502920"/>
          </a:xfrm>
          <a:prstGeom prst="ellipse">
            <a:avLst/>
          </a:prstGeom>
          <a:solidFill>
            <a:schemeClr val="accent1"/>
          </a:solidFill>
          <a:ln w="12700">
            <a:solidFill>
              <a:schemeClr val="accent1"/>
            </a:solidFill>
            <a:prstDash val="solid"/>
          </a:ln>
        </p:spPr>
      </p:sp>
      <p:sp>
        <p:nvSpPr>
          <p:cNvPr id="17" name="numero-224"/>
          <p:cNvSpPr txBox="1"/>
          <p:nvPr/>
        </p:nvSpPr>
        <p:spPr>
          <a:xfrm>
            <a:off x="8394192"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e-225"/>
          <p:cNvSpPr txBox="1"/>
          <p:nvPr/>
        </p:nvSpPr>
        <p:spPr>
          <a:xfrm>
            <a:off x="9079992" y="1645920"/>
            <a:ext cx="2377440" cy="502920"/>
          </a:xfrm>
          <a:prstGeom prst="rect">
            <a:avLst/>
          </a:prstGeom>
          <a:noFill/>
          <a:ln/>
        </p:spPr>
        <p:txBody>
          <a:bodyPr wrap="square" lIns="0" tIns="0" rIns="0" bIns="0" rtlCol="0" anchor="ctr"/>
          <a:lstStyle/>
          <a:p>
            <a:pPr indent="0" marL="0">
              <a:buNone/>
            </a:pPr>
            <a:r>
              <a:rPr lang="en-US" sz="1800" b="1" dirty="0">
                <a:solidFill>
                  <a:schemeClr val="tx2"/>
                </a:solidFill>
              </a:rPr>
              <a:t>Consulter</a:t>
            </a:r>
            <a:endParaRPr lang="en-US" sz="1800" dirty="0"/>
          </a:p>
        </p:txBody>
      </p:sp>
      <p:sp>
        <p:nvSpPr>
          <p:cNvPr id="19" name="texte-226"/>
          <p:cNvSpPr txBox="1"/>
          <p:nvPr/>
        </p:nvSpPr>
        <p:spPr>
          <a:xfrm>
            <a:off x="8394192" y="2331720"/>
            <a:ext cx="3017520" cy="45720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localhost:3000/docs</a:t>
            </a:r>
            <a:endParaRPr lang="en-US" sz="1400" dirty="0"/>
          </a:p>
        </p:txBody>
      </p:sp>
      <p:sp>
        <p:nvSpPr>
          <p:cNvPr id="20" name="texte-227"/>
          <p:cNvSpPr txBox="1"/>
          <p:nvPr/>
        </p:nvSpPr>
        <p:spPr>
          <a:xfrm>
            <a:off x="8394192" y="2834640"/>
            <a:ext cx="3017520" cy="411480"/>
          </a:xfrm>
          <a:prstGeom prst="rect">
            <a:avLst/>
          </a:prstGeom>
          <a:noFill/>
          <a:ln/>
        </p:spPr>
        <p:txBody>
          <a:bodyPr wrap="square" lIns="0" tIns="0" rIns="0" bIns="0" rtlCol="0" anchor="t"/>
          <a:lstStyle/>
          <a:p>
            <a:pPr indent="0" marL="0">
              <a:buNone/>
            </a:pPr>
            <a:r>
              <a:rPr lang="en-US" sz="1500" dirty="0">
                <a:solidFill>
                  <a:schemeClr val="tx1"/>
                </a:solidFill>
              </a:rPr>
              <a:t>Swagger : lister, créer, modifier</a:t>
            </a:r>
            <a:endParaRPr lang="en-US" sz="1500" dirty="0"/>
          </a:p>
        </p:txBody>
      </p:sp>
      <p:sp>
        <p:nvSpPr>
          <p:cNvPr id="21" name="carte-228"/>
          <p:cNvSpPr/>
          <p:nvPr/>
        </p:nvSpPr>
        <p:spPr>
          <a:xfrm>
            <a:off x="548640" y="3749040"/>
            <a:ext cx="3520440" cy="2103120"/>
          </a:xfrm>
          <a:prstGeom prst="roundRect">
            <a:avLst>
              <a:gd name="adj" fmla="val 3478"/>
            </a:avLst>
          </a:prstGeom>
          <a:solidFill>
            <a:schemeClr val="bg2"/>
          </a:solidFill>
          <a:ln w="12700">
            <a:solidFill>
              <a:schemeClr val="bg2"/>
            </a:solidFill>
            <a:prstDash val="solid"/>
          </a:ln>
        </p:spPr>
      </p:sp>
      <p:sp>
        <p:nvSpPr>
          <p:cNvPr id="22" name="pastille-229"/>
          <p:cNvSpPr/>
          <p:nvPr/>
        </p:nvSpPr>
        <p:spPr>
          <a:xfrm>
            <a:off x="822960" y="4023360"/>
            <a:ext cx="502920" cy="502920"/>
          </a:xfrm>
          <a:prstGeom prst="ellipse">
            <a:avLst/>
          </a:prstGeom>
          <a:solidFill>
            <a:schemeClr val="accent1"/>
          </a:solidFill>
          <a:ln w="12700">
            <a:solidFill>
              <a:schemeClr val="accent1"/>
            </a:solidFill>
            <a:prstDash val="solid"/>
          </a:ln>
        </p:spPr>
      </p:sp>
      <p:sp>
        <p:nvSpPr>
          <p:cNvPr id="23" name="numero-230"/>
          <p:cNvSpPr txBox="1"/>
          <p:nvPr/>
        </p:nvSpPr>
        <p:spPr>
          <a:xfrm>
            <a:off x="822960" y="4023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exte-231"/>
          <p:cNvSpPr txBox="1"/>
          <p:nvPr/>
        </p:nvSpPr>
        <p:spPr>
          <a:xfrm>
            <a:off x="1508760" y="4023360"/>
            <a:ext cx="2377440" cy="502920"/>
          </a:xfrm>
          <a:prstGeom prst="rect">
            <a:avLst/>
          </a:prstGeom>
          <a:noFill/>
          <a:ln/>
        </p:spPr>
        <p:txBody>
          <a:bodyPr wrap="square" lIns="0" tIns="0" rIns="0" bIns="0" rtlCol="0" anchor="ctr"/>
          <a:lstStyle/>
          <a:p>
            <a:pPr indent="0" marL="0">
              <a:buNone/>
            </a:pPr>
            <a:r>
              <a:rPr lang="en-US" sz="1800" b="1" dirty="0">
                <a:solidFill>
                  <a:schemeClr val="tx2"/>
                </a:solidFill>
              </a:rPr>
              <a:t>Provoquer une erreur</a:t>
            </a:r>
            <a:endParaRPr lang="en-US" sz="1800" dirty="0"/>
          </a:p>
        </p:txBody>
      </p:sp>
      <p:sp>
        <p:nvSpPr>
          <p:cNvPr id="25" name="texte-232"/>
          <p:cNvSpPr txBox="1"/>
          <p:nvPr/>
        </p:nvSpPr>
        <p:spPr>
          <a:xfrm>
            <a:off x="822960" y="4709160"/>
            <a:ext cx="3017520" cy="45720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POST avec client CLI-9999</a:t>
            </a:r>
            <a:endParaRPr lang="en-US" sz="1400" dirty="0"/>
          </a:p>
        </p:txBody>
      </p:sp>
      <p:sp>
        <p:nvSpPr>
          <p:cNvPr id="26" name="texte-233"/>
          <p:cNvSpPr txBox="1"/>
          <p:nvPr/>
        </p:nvSpPr>
        <p:spPr>
          <a:xfrm>
            <a:off x="822960" y="5212080"/>
            <a:ext cx="3017520" cy="411480"/>
          </a:xfrm>
          <a:prstGeom prst="rect">
            <a:avLst/>
          </a:prstGeom>
          <a:noFill/>
          <a:ln/>
        </p:spPr>
        <p:txBody>
          <a:bodyPr wrap="square" lIns="0" tIns="0" rIns="0" bIns="0" rtlCol="0" anchor="t"/>
          <a:lstStyle/>
          <a:p>
            <a:pPr indent="0" marL="0">
              <a:buNone/>
            </a:pPr>
            <a:r>
              <a:rPr lang="en-US" sz="1500" dirty="0">
                <a:solidFill>
                  <a:schemeClr val="tx1"/>
                </a:solidFill>
              </a:rPr>
              <a:t>Réponse 422 corrélée</a:t>
            </a:r>
            <a:endParaRPr lang="en-US" sz="1500" dirty="0"/>
          </a:p>
        </p:txBody>
      </p:sp>
      <p:sp>
        <p:nvSpPr>
          <p:cNvPr id="27" name="carte-234"/>
          <p:cNvSpPr/>
          <p:nvPr/>
        </p:nvSpPr>
        <p:spPr>
          <a:xfrm>
            <a:off x="4334256" y="3749040"/>
            <a:ext cx="3520440" cy="2103120"/>
          </a:xfrm>
          <a:prstGeom prst="roundRect">
            <a:avLst>
              <a:gd name="adj" fmla="val 3478"/>
            </a:avLst>
          </a:prstGeom>
          <a:solidFill>
            <a:schemeClr val="bg2"/>
          </a:solidFill>
          <a:ln w="12700">
            <a:solidFill>
              <a:schemeClr val="bg2"/>
            </a:solidFill>
            <a:prstDash val="solid"/>
          </a:ln>
        </p:spPr>
      </p:sp>
      <p:sp>
        <p:nvSpPr>
          <p:cNvPr id="28" name="pastille-235"/>
          <p:cNvSpPr/>
          <p:nvPr/>
        </p:nvSpPr>
        <p:spPr>
          <a:xfrm>
            <a:off x="4608576" y="4023360"/>
            <a:ext cx="502920" cy="502920"/>
          </a:xfrm>
          <a:prstGeom prst="ellipse">
            <a:avLst/>
          </a:prstGeom>
          <a:solidFill>
            <a:schemeClr val="accent1"/>
          </a:solidFill>
          <a:ln w="12700">
            <a:solidFill>
              <a:schemeClr val="accent1"/>
            </a:solidFill>
            <a:prstDash val="solid"/>
          </a:ln>
        </p:spPr>
      </p:sp>
      <p:sp>
        <p:nvSpPr>
          <p:cNvPr id="29" name="numero-236"/>
          <p:cNvSpPr txBox="1"/>
          <p:nvPr/>
        </p:nvSpPr>
        <p:spPr>
          <a:xfrm>
            <a:off x="4608576" y="4023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texte-237"/>
          <p:cNvSpPr txBox="1"/>
          <p:nvPr/>
        </p:nvSpPr>
        <p:spPr>
          <a:xfrm>
            <a:off x="5294376" y="4023360"/>
            <a:ext cx="2377440" cy="502920"/>
          </a:xfrm>
          <a:prstGeom prst="rect">
            <a:avLst/>
          </a:prstGeom>
          <a:noFill/>
          <a:ln/>
        </p:spPr>
        <p:txBody>
          <a:bodyPr wrap="square" lIns="0" tIns="0" rIns="0" bIns="0" rtlCol="0" anchor="ctr"/>
          <a:lstStyle/>
          <a:p>
            <a:pPr indent="0" marL="0">
              <a:buNone/>
            </a:pPr>
            <a:r>
              <a:rPr lang="en-US" sz="1800" b="1" dirty="0">
                <a:solidFill>
                  <a:schemeClr val="tx2"/>
                </a:solidFill>
              </a:rPr>
              <a:t>Retrouver l'erreur</a:t>
            </a:r>
            <a:endParaRPr lang="en-US" sz="1800" dirty="0"/>
          </a:p>
        </p:txBody>
      </p:sp>
      <p:sp>
        <p:nvSpPr>
          <p:cNvPr id="31" name="texte-238"/>
          <p:cNvSpPr txBox="1"/>
          <p:nvPr/>
        </p:nvSpPr>
        <p:spPr>
          <a:xfrm>
            <a:off x="4608576" y="4709160"/>
            <a:ext cx="3017520" cy="45720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localhost:5601</a:t>
            </a:r>
            <a:endParaRPr lang="en-US" sz="1400" dirty="0"/>
          </a:p>
        </p:txBody>
      </p:sp>
      <p:sp>
        <p:nvSpPr>
          <p:cNvPr id="32" name="texte-239"/>
          <p:cNvSpPr txBox="1"/>
          <p:nvPr/>
        </p:nvSpPr>
        <p:spPr>
          <a:xfrm>
            <a:off x="4608576" y="5212080"/>
            <a:ext cx="3017520" cy="411480"/>
          </a:xfrm>
          <a:prstGeom prst="rect">
            <a:avLst/>
          </a:prstGeom>
          <a:noFill/>
          <a:ln/>
        </p:spPr>
        <p:txBody>
          <a:bodyPr wrap="square" lIns="0" tIns="0" rIns="0" bIns="0" rtlCol="0" anchor="t"/>
          <a:lstStyle/>
          <a:p>
            <a:pPr indent="0" marL="0">
              <a:buNone/>
            </a:pPr>
            <a:r>
              <a:rPr lang="en-US" sz="1500" dirty="0">
                <a:solidFill>
                  <a:schemeClr val="tx1"/>
                </a:solidFill>
              </a:rPr>
              <a:t>Kibana : tableau de bord Supervision</a:t>
            </a:r>
            <a:endParaRPr lang="en-US" sz="1500" dirty="0"/>
          </a:p>
        </p:txBody>
      </p:sp>
      <p:sp>
        <p:nvSpPr>
          <p:cNvPr id="33" name="carte-240"/>
          <p:cNvSpPr/>
          <p:nvPr/>
        </p:nvSpPr>
        <p:spPr>
          <a:xfrm>
            <a:off x="8119872" y="3749040"/>
            <a:ext cx="3520440" cy="2103120"/>
          </a:xfrm>
          <a:prstGeom prst="roundRect">
            <a:avLst>
              <a:gd name="adj" fmla="val 3478"/>
            </a:avLst>
          </a:prstGeom>
          <a:solidFill>
            <a:schemeClr val="bg2"/>
          </a:solidFill>
          <a:ln w="12700">
            <a:solidFill>
              <a:schemeClr val="bg2"/>
            </a:solidFill>
            <a:prstDash val="solid"/>
          </a:ln>
        </p:spPr>
      </p:sp>
      <p:sp>
        <p:nvSpPr>
          <p:cNvPr id="34" name="pastille-241"/>
          <p:cNvSpPr/>
          <p:nvPr/>
        </p:nvSpPr>
        <p:spPr>
          <a:xfrm>
            <a:off x="8394192" y="4023360"/>
            <a:ext cx="502920" cy="502920"/>
          </a:xfrm>
          <a:prstGeom prst="ellipse">
            <a:avLst/>
          </a:prstGeom>
          <a:solidFill>
            <a:schemeClr val="accent1"/>
          </a:solidFill>
          <a:ln w="12700">
            <a:solidFill>
              <a:schemeClr val="accent1"/>
            </a:solidFill>
            <a:prstDash val="solid"/>
          </a:ln>
        </p:spPr>
      </p:sp>
      <p:sp>
        <p:nvSpPr>
          <p:cNvPr id="35" name="numero-242"/>
          <p:cNvSpPr txBox="1"/>
          <p:nvPr/>
        </p:nvSpPr>
        <p:spPr>
          <a:xfrm>
            <a:off x="8394192" y="4023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6" name="texte-243"/>
          <p:cNvSpPr txBox="1"/>
          <p:nvPr/>
        </p:nvSpPr>
        <p:spPr>
          <a:xfrm>
            <a:off x="9079992" y="4023360"/>
            <a:ext cx="2377440" cy="502920"/>
          </a:xfrm>
          <a:prstGeom prst="rect">
            <a:avLst/>
          </a:prstGeom>
          <a:noFill/>
          <a:ln/>
        </p:spPr>
        <p:txBody>
          <a:bodyPr wrap="square" lIns="0" tIns="0" rIns="0" bIns="0" rtlCol="0" anchor="ctr"/>
          <a:lstStyle/>
          <a:p>
            <a:pPr indent="0" marL="0">
              <a:buNone/>
            </a:pPr>
            <a:r>
              <a:rPr lang="en-US" sz="1800" b="1" dirty="0">
                <a:solidFill>
                  <a:schemeClr val="tx2"/>
                </a:solidFill>
              </a:rPr>
              <a:t>Rejouer</a:t>
            </a:r>
            <a:endParaRPr lang="en-US" sz="1800" dirty="0"/>
          </a:p>
        </p:txBody>
      </p:sp>
      <p:sp>
        <p:nvSpPr>
          <p:cNvPr id="37" name="texte-244"/>
          <p:cNvSpPr txBox="1"/>
          <p:nvPr/>
        </p:nvSpPr>
        <p:spPr>
          <a:xfrm>
            <a:off x="8394192" y="4709160"/>
            <a:ext cx="3017520" cy="45720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Nouvelle exécution du DAG</a:t>
            </a:r>
            <a:endParaRPr lang="en-US" sz="1400" dirty="0"/>
          </a:p>
        </p:txBody>
      </p:sp>
      <p:sp>
        <p:nvSpPr>
          <p:cNvPr id="38" name="texte-245"/>
          <p:cNvSpPr txBox="1"/>
          <p:nvPr/>
        </p:nvSpPr>
        <p:spPr>
          <a:xfrm>
            <a:off x="8394192" y="5212080"/>
            <a:ext cx="3017520" cy="411480"/>
          </a:xfrm>
          <a:prstGeom prst="rect">
            <a:avLst/>
          </a:prstGeom>
          <a:noFill/>
          <a:ln/>
        </p:spPr>
        <p:txBody>
          <a:bodyPr wrap="square" lIns="0" tIns="0" rIns="0" bIns="0" rtlCol="0" anchor="t"/>
          <a:lstStyle/>
          <a:p>
            <a:pPr indent="0" marL="0">
              <a:buNone/>
            </a:pPr>
            <a:r>
              <a:rPr lang="en-US" sz="1500" dirty="0">
                <a:solidFill>
                  <a:schemeClr val="tx1"/>
                </a:solidFill>
              </a:rPr>
              <a:t>0 écriture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Bilan et perspectives</a:t>
            </a:r>
            <a:endParaRPr lang="en-US" sz="3200" dirty="0"/>
          </a:p>
        </p:txBody>
      </p:sp>
      <p:sp>
        <p:nvSpPr>
          <p:cNvPr id="3" name="texte-246"/>
          <p:cNvSpPr txBox="1"/>
          <p:nvPr/>
        </p:nvSpPr>
        <p:spPr>
          <a:xfrm>
            <a:off x="548640" y="1463040"/>
            <a:ext cx="3520440"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Réalisé</a:t>
            </a:r>
            <a:endParaRPr lang="en-US" sz="2200" dirty="0"/>
          </a:p>
        </p:txBody>
      </p:sp>
      <p:sp>
        <p:nvSpPr>
          <p:cNvPr id="4" name="texte-247"/>
          <p:cNvSpPr txBox="1"/>
          <p:nvPr/>
        </p:nvSpPr>
        <p:spPr>
          <a:xfrm>
            <a:off x="548640" y="2103120"/>
            <a:ext cx="352044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Chaîne complète CSV → Airflow → MongoDB → API → ELK</a:t>
            </a:r>
            <a:endParaRPr lang="en-US" sz="1600" dirty="0"/>
          </a:p>
          <a:p>
            <a:pPr marL="342900" indent="-342900">
              <a:spcAft>
                <a:spcPts val="1000"/>
              </a:spcAft>
              <a:buSzPct val="100000"/>
              <a:buChar char="•"/>
            </a:pPr>
            <a:r>
              <a:rPr lang="en-US" sz="1600" dirty="0">
                <a:solidFill>
                  <a:schemeClr val="bg1"/>
                </a:solidFill>
              </a:rPr>
              <a:t>Idempotence démontrée par mesure</a:t>
            </a:r>
            <a:endParaRPr lang="en-US" sz="1600" dirty="0"/>
          </a:p>
          <a:p>
            <a:pPr marL="342900" indent="-342900">
              <a:spcAft>
                <a:spcPts val="1000"/>
              </a:spcAft>
              <a:buSzPct val="100000"/>
              <a:buChar char="•"/>
            </a:pPr>
            <a:r>
              <a:rPr lang="en-US" sz="1600" dirty="0">
                <a:solidFill>
                  <a:schemeClr val="bg1"/>
                </a:solidFill>
              </a:rPr>
              <a:t>Installation reproductible en une commande</a:t>
            </a:r>
            <a:endParaRPr lang="en-US" sz="1600" dirty="0"/>
          </a:p>
          <a:p>
            <a:pPr marL="342900" indent="-342900">
              <a:spcAft>
                <a:spcPts val="1000"/>
              </a:spcAft>
              <a:buSzPct val="100000"/>
              <a:buChar char="•"/>
            </a:pPr>
            <a:r>
              <a:rPr lang="en-US" sz="1600" dirty="0">
                <a:solidFill>
                  <a:schemeClr val="bg1"/>
                </a:solidFill>
              </a:rPr>
              <a:t>Documentation et 4 campagnes de test</a:t>
            </a:r>
            <a:endParaRPr lang="en-US" sz="1600" dirty="0"/>
          </a:p>
        </p:txBody>
      </p:sp>
      <p:sp>
        <p:nvSpPr>
          <p:cNvPr id="5" name="texte-248"/>
          <p:cNvSpPr txBox="1"/>
          <p:nvPr/>
        </p:nvSpPr>
        <p:spPr>
          <a:xfrm>
            <a:off x="4334256" y="1463040"/>
            <a:ext cx="3520440" cy="502920"/>
          </a:xfrm>
          <a:prstGeom prst="rect">
            <a:avLst/>
          </a:prstGeom>
          <a:noFill/>
          <a:ln/>
        </p:spPr>
        <p:txBody>
          <a:bodyPr wrap="square" lIns="0" tIns="0" rIns="0" bIns="0" rtlCol="0" anchor="t"/>
          <a:lstStyle/>
          <a:p>
            <a:pPr indent="0" marL="0">
              <a:buNone/>
            </a:pPr>
            <a:r>
              <a:rPr lang="en-US" sz="2200" b="1" dirty="0">
                <a:solidFill>
                  <a:schemeClr val="bg2"/>
                </a:solidFill>
                <a:latin typeface="Cambria" pitchFamily="34" charset="0"/>
                <a:ea typeface="Cambria" pitchFamily="34" charset="-122"/>
                <a:cs typeface="Cambria" pitchFamily="34" charset="-120"/>
              </a:rPr>
              <a:t>Limites</a:t>
            </a:r>
            <a:endParaRPr lang="en-US" sz="2200" dirty="0"/>
          </a:p>
        </p:txBody>
      </p:sp>
      <p:sp>
        <p:nvSpPr>
          <p:cNvPr id="6" name="texte-249"/>
          <p:cNvSpPr txBox="1"/>
          <p:nvPr/>
        </p:nvSpPr>
        <p:spPr>
          <a:xfrm>
            <a:off x="4334256" y="2103120"/>
            <a:ext cx="352044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Sécurité Elastic désactivée (démonstration locale)</a:t>
            </a:r>
            <a:endParaRPr lang="en-US" sz="1600" dirty="0"/>
          </a:p>
          <a:p>
            <a:pPr marL="342900" indent="-342900">
              <a:spcAft>
                <a:spcPts val="1000"/>
              </a:spcAft>
              <a:buSzPct val="100000"/>
              <a:buChar char="•"/>
            </a:pPr>
            <a:r>
              <a:rPr lang="en-US" sz="1600" dirty="0">
                <a:solidFill>
                  <a:schemeClr val="bg1"/>
                </a:solidFill>
              </a:rPr>
              <a:t>API sans authentification</a:t>
            </a:r>
            <a:endParaRPr lang="en-US" sz="1600" dirty="0"/>
          </a:p>
          <a:p>
            <a:pPr marL="342900" indent="-342900">
              <a:spcAft>
                <a:spcPts val="1000"/>
              </a:spcAft>
              <a:buSzPct val="100000"/>
              <a:buChar char="•"/>
            </a:pPr>
            <a:r>
              <a:rPr lang="en-US" sz="1600" dirty="0">
                <a:solidFill>
                  <a:schemeClr val="bg1"/>
                </a:solidFill>
              </a:rPr>
              <a:t>Pas de politique de rétention des index</a:t>
            </a:r>
            <a:endParaRPr lang="en-US" sz="1600" dirty="0"/>
          </a:p>
        </p:txBody>
      </p:sp>
      <p:sp>
        <p:nvSpPr>
          <p:cNvPr id="7" name="texte-250"/>
          <p:cNvSpPr txBox="1"/>
          <p:nvPr/>
        </p:nvSpPr>
        <p:spPr>
          <a:xfrm>
            <a:off x="8119872" y="1463040"/>
            <a:ext cx="3520440" cy="502920"/>
          </a:xfrm>
          <a:prstGeom prst="rect">
            <a:avLst/>
          </a:prstGeom>
          <a:noFill/>
          <a:ln/>
        </p:spPr>
        <p:txBody>
          <a:bodyPr wrap="square" lIns="0" tIns="0" rIns="0" bIns="0" rtlCol="0" anchor="t"/>
          <a:lstStyle/>
          <a:p>
            <a:pPr indent="0" marL="0">
              <a:buNone/>
            </a:pPr>
            <a:r>
              <a:rPr lang="en-US" sz="2200" b="1" dirty="0">
                <a:solidFill>
                  <a:schemeClr val="bg2"/>
                </a:solidFill>
                <a:latin typeface="Cambria" pitchFamily="34" charset="0"/>
                <a:ea typeface="Cambria" pitchFamily="34" charset="-122"/>
                <a:cs typeface="Cambria" pitchFamily="34" charset="-120"/>
              </a:rPr>
              <a:t>Perspectives</a:t>
            </a:r>
            <a:endParaRPr lang="en-US" sz="2200" dirty="0"/>
          </a:p>
        </p:txBody>
      </p:sp>
      <p:sp>
        <p:nvSpPr>
          <p:cNvPr id="8" name="texte-251"/>
          <p:cNvSpPr txBox="1"/>
          <p:nvPr/>
        </p:nvSpPr>
        <p:spPr>
          <a:xfrm>
            <a:off x="8119872" y="2103120"/>
            <a:ext cx="352044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Authentification par jeton (JWT) et quotas</a:t>
            </a:r>
            <a:endParaRPr lang="en-US" sz="1600" dirty="0"/>
          </a:p>
          <a:p>
            <a:pPr marL="342900" indent="-342900">
              <a:spcAft>
                <a:spcPts val="1000"/>
              </a:spcAft>
              <a:buSzPct val="100000"/>
              <a:buChar char="•"/>
            </a:pPr>
            <a:r>
              <a:rPr lang="en-US" sz="1600" dirty="0">
                <a:solidFill>
                  <a:schemeClr val="bg1"/>
                </a:solidFill>
              </a:rPr>
              <a:t>TLS et comptes Elastic, alertes Kibana</a:t>
            </a:r>
            <a:endParaRPr lang="en-US" sz="1600" dirty="0"/>
          </a:p>
          <a:p>
            <a:pPr marL="342900" indent="-342900">
              <a:spcAft>
                <a:spcPts val="1000"/>
              </a:spcAft>
              <a:buSzPct val="100000"/>
              <a:buChar char="•"/>
            </a:pPr>
            <a:r>
              <a:rPr lang="en-US" sz="1600" dirty="0">
                <a:solidFill>
                  <a:schemeClr val="bg1"/>
                </a:solidFill>
              </a:rPr>
              <a:t>Intégration continue des tests (GitHub Actions)</a:t>
            </a:r>
            <a:endParaRPr lang="en-US" sz="1600" dirty="0"/>
          </a:p>
        </p:txBody>
      </p:sp>
      <p:sp>
        <p:nvSpPr>
          <p:cNvPr id="9" name="texte-252"/>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600" dirty="0">
                <a:solidFill>
                  <a:schemeClr val="accent2"/>
                </a:solidFill>
                <a:latin typeface="Courier New" pitchFamily="34" charset="0"/>
                <a:ea typeface="Courier New" pitchFamily="34" charset="-122"/>
                <a:cs typeface="Courier New" pitchFamily="34" charset="-120"/>
              </a:rPr>
              <a:t>github.com/PorgoAbdoulNassirou/PROJET_DEV_COMPOSANT_2026</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Ventes Groupe 4">
  <a:themeElements>
    <a:clrScheme name="Ventes Groupe 4">
      <a:dk1>
        <a:srgbClr val="1B2A2F"/>
      </a:dk1>
      <a:lt1>
        <a:srgbClr val="FFFFFF"/>
      </a:lt1>
      <a:dk2>
        <a:srgbClr val="12343B"/>
      </a:dk2>
      <a:lt2>
        <a:srgbClr val="EDF3F2"/>
      </a:lt2>
      <a:accent1>
        <a:srgbClr val="1F7A6D"/>
      </a:accent1>
      <a:accent2>
        <a:srgbClr val="E8A33D"/>
      </a:accent2>
      <a:accent3>
        <a:srgbClr val="C2553A"/>
      </a:accent3>
      <a:accent4>
        <a:srgbClr val="4E8A4C"/>
      </a:accent4>
      <a:accent5>
        <a:srgbClr val="6B7C82"/>
      </a:accent5>
      <a:accent6>
        <a:srgbClr val="3E6E8E"/>
      </a:accent6>
      <a:hlink>
        <a:srgbClr val="1F7A6D"/>
      </a:hlink>
      <a:folHlink>
        <a:srgbClr val="6B7C82"/>
      </a:folHlink>
    </a:clrScheme>
    <a:fontScheme name="Ventes Groupe 4">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IBAM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REST de ventes avec Express.js, Airflow, MongoDB et ELK</dc:title>
  <dc:subject>PptxGenJS Presentation</dc:subject>
  <dc:creator>Groupe 4 - SIE</dc:creator>
  <cp:lastModifiedBy>Groupe 4 - SIE</cp:lastModifiedBy>
  <cp:revision>1</cp:revision>
  <dcterms:created xsi:type="dcterms:W3CDTF">2026-10-20T20:40:21Z</dcterms:created>
  <dcterms:modified xsi:type="dcterms:W3CDTF">2026-10-20T20:40:21Z</dcterms:modified>
</cp:coreProperties>
</file>